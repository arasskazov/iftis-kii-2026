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app0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package/2006/relationships/metadata/extended-properties" Target="docProps/app0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43" autoAdjust="0"/>
    <p:restoredTop sz="94694" autoAdjust="0"/>
  </p:normalViewPr>
  <p:slideViewPr>
    <p:cSldViewPr snapToGrid="0" snapToObjects="1">
      <p:cViewPr varScale="1">
        <p:scale>
          <a:sx n="108" d="100"/>
          <a:sy n="108" d="100"/>
        </p:scale>
        <p:origin x="722" y="46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 0" descr="/mnt/data/a_high_tech_isometric_3d_illustration_of_a_modular_batch_1.png">
            <a:extLst>
              <a:ext uri="{FF2B5EF4-FFF2-40B4-BE49-F238E27FC236}">
                <a16:creationId xmlns:a16="http://schemas.microsoft.com/office/drawing/2014/main" id="{BF32EBF7-C8A6-42CD-90E8-59FCA44C530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22000"/>
          </a:blip>
          <a:srcRect l="32000" r="12320"/>
          <a:stretch/>
        </p:blipFill>
        <p:spPr>
          <a:xfrm>
            <a:off x="2094975" y="118548"/>
            <a:ext cx="4332918" cy="4379633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Image 0" descr="/mnt/data/a_high_tech_isometric_3d_illustration_of_a_modular_batch_1.png">
            <a:extLst>
              <a:ext uri="{FF2B5EF4-FFF2-40B4-BE49-F238E27FC236}">
                <a16:creationId xmlns:a16="http://schemas.microsoft.com/office/drawing/2014/main" id="{469EBB0B-36EA-4B29-9BBE-DAD46164C21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22000"/>
          </a:blip>
          <a:srcRect l="32000" r="12320"/>
          <a:stretch/>
        </p:blipFill>
        <p:spPr>
          <a:xfrm>
            <a:off x="2094975" y="118548"/>
            <a:ext cx="4332918" cy="4379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pic>
        <p:nvPicPr>
          <p:cNvPr id="6" name="Image 0" descr="/mnt/data/a_high_tech_isometric_3d_illustration_of_a_modular_batch_1.png">
            <a:extLst>
              <a:ext uri="{FF2B5EF4-FFF2-40B4-BE49-F238E27FC236}">
                <a16:creationId xmlns:a16="http://schemas.microsoft.com/office/drawing/2014/main" id="{FCC64FF2-3323-4E69-826A-7400014FD5F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22000"/>
          </a:blip>
          <a:srcRect l="32000" r="12320"/>
          <a:stretch/>
        </p:blipFill>
        <p:spPr>
          <a:xfrm>
            <a:off x="2220282" y="524552"/>
            <a:ext cx="4332918" cy="4379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7433733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Image 1" descr="/mnt/data/asset_icons/image3.png">
            <a:extLst>
              <a:ext uri="{FF2B5EF4-FFF2-40B4-BE49-F238E27FC236}">
                <a16:creationId xmlns:a16="http://schemas.microsoft.com/office/drawing/2014/main" id="{07B1F67F-77AB-4D11-A16B-35A1040E62AB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7890933" y="138406"/>
            <a:ext cx="1102360" cy="459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rtl="0" eaLnBrk="1" latinLnBrk="0" hangingPunct="1">
        <a:spcBef>
          <a:spcPct val="0"/>
        </a:spcBef>
        <a:buNone/>
        <a:defRPr sz="2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3429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342900" algn="l" defTabSz="342900" rtl="0" eaLnBrk="1" latinLnBrk="0" hangingPunct="1">
        <a:spcBef>
          <a:spcPct val="20000"/>
        </a:spcBef>
        <a:buFont typeface="Arial"/>
        <a:buChar char="–"/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28700" indent="-342900" algn="l" defTabSz="342900" rtl="0" eaLnBrk="1" latinLnBrk="0" hangingPunct="1">
        <a:spcBef>
          <a:spcPct val="20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-342900" algn="l" defTabSz="342900" rtl="0" eaLnBrk="1" latinLnBrk="0" hangingPunct="1">
        <a:spcBef>
          <a:spcPct val="20000"/>
        </a:spcBef>
        <a:buFont typeface="Arial"/>
        <a:buChar char="–"/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714500" indent="-342900" algn="l" defTabSz="342900" rtl="0" eaLnBrk="1" latinLnBrk="0" hangingPunct="1">
        <a:spcBef>
          <a:spcPct val="20000"/>
        </a:spcBef>
        <a:buFont typeface="Arial"/>
        <a:buChar char="»"/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20574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4003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7432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0861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Лекция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lvl="0" indent="0">
              <a:buNone/>
            </a:pPr>
            <a:r>
              <a:rPr b="1"/>
              <a:t>Нормативно-правовое обеспечение критической информационной инфраструктуры</a:t>
            </a:r>
          </a:p>
          <a:p>
            <a:pPr marL="0" lvl="0" indent="0">
              <a:spcBef>
                <a:spcPts val="3000"/>
              </a:spcBef>
              <a:buNone/>
            </a:pPr>
            <a:r>
              <a:rPr b="1"/>
              <a:t>Техническое регулирование: как читать требования и подтверждать решения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Центральный вопрос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Что требуется доказать?</a:t>
            </a:r>
          </a:p>
          <a:p>
            <a:pPr marL="0" lvl="0" indent="0">
              <a:buNone/>
            </a:pPr>
            <a:r>
              <a:t>Не достаточно назвать закон, стандарт или сертификат.</a:t>
            </a:r>
          </a:p>
          <a:p>
            <a:pPr marL="0" lvl="0" indent="0">
              <a:buNone/>
            </a:pPr>
            <a:r>
              <a:t>Для каждого решения специалист отвечает:</a:t>
            </a:r>
          </a:p>
          <a:p>
            <a:pPr lvl="0"/>
            <a:r>
              <a:t>какая норма или условие применяется;</a:t>
            </a:r>
          </a:p>
          <a:p>
            <a:pPr lvl="0"/>
            <a:r>
              <a:t>к какому объекту и в каких границах;</a:t>
            </a:r>
          </a:p>
          <a:p>
            <a:pPr lvl="0"/>
            <a:r>
              <a:t>что именно организация обязана или решила сделать;</a:t>
            </a:r>
          </a:p>
          <a:p>
            <a:pPr lvl="0"/>
            <a:r>
              <a:t>чем подтверждается выполнение;</a:t>
            </a:r>
          </a:p>
          <a:p>
            <a:pPr lvl="0"/>
            <a:r>
              <a:t>когда вывод нужно пересмотреть.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Карта источников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19888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Источник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Роль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Федеральный закон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устанавливает правовую рамку и полномочия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Подзаконный нормативный акт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конкретизирует порядок и требования в пределах компетенции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Документ по стандартизации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описывает согласованные подходы и характеристики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Договор, закупка, локальный акт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задаёт обязательства конкретной организации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Сертификат, протокол, журнал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служит доказательством в своей области действия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3733800"/>
            <a:ext cx="8229600" cy="723900"/>
          </a:xfrm>
        </p:spPr>
        <p:txBody>
          <a:bodyPr/>
          <a:lstStyle/>
          <a:p>
            <a:pPr marL="0" lvl="0" indent="0">
              <a:buNone/>
            </a:pPr>
            <a:r>
              <a:t>Ни один источник нельзя оценивать только по названию: важны предмет, адресат, редакция и дата действия.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Иерархия и применимость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Два разных вопроса</a:t>
            </a:r>
          </a:p>
          <a:p>
            <a:pPr marL="342900" lvl="0" indent="-342900">
              <a:buAutoNum type="arabicPeriod"/>
            </a:pPr>
            <a:r>
              <a:t>Не противоречит ли документ акту большей юридической силы?</a:t>
            </a:r>
          </a:p>
          <a:p>
            <a:pPr marL="342900" lvl="0" indent="-342900">
              <a:buAutoNum type="arabicPeriod"/>
            </a:pPr>
            <a:r>
              <a:t>Применим ли он к данному объекту и ситуации?</a:t>
            </a:r>
          </a:p>
          <a:p>
            <a:pPr marL="0" lvl="0" indent="0">
              <a:buNone/>
            </a:pPr>
            <a:r>
              <a:t>Специальное регулирование КИИ применяется в пределах своего предмета и круга адресатов. Общий стандарт или локальный документ не отменяет специальное обязательное требование.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Технический регламент и стандарт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Категория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Главное различие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Технический регламент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устанавливает обязательные требования в предусмотренной законом сфере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Национальный стандарт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в общем случае применяется добровольно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ПНСТ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документ для апробации; срок действия — не более трёх лет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3454400"/>
            <a:ext cx="8229600" cy="1003300"/>
          </a:xfrm>
        </p:spPr>
        <p:txBody>
          <a:bodyPr/>
          <a:lstStyle/>
          <a:p>
            <a:pPr marL="0" lvl="0" indent="0">
              <a:buNone/>
            </a:pPr>
            <a:r>
              <a:t>Применение стандарта может стать обязательным, если это прямо следует из закона, нормативного акта в пределах компетенции или договора.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Подтверждение соответствия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Не смешивать три конструкции</a:t>
            </a:r>
          </a:p>
          <a:p>
            <a:pPr lvl="0"/>
            <a:r>
              <a:t>Обязательное подтверждение соответствия продукции: только в случаях, заданных техническим регламентом.</a:t>
            </a:r>
          </a:p>
          <a:p>
            <a:pPr lvl="0"/>
            <a:r>
              <a:t>Добровольная сертификация: по инициативе заявителя и правилам соответствующей системы.</a:t>
            </a:r>
          </a:p>
          <a:p>
            <a:pPr lvl="0"/>
            <a:r>
              <a:t>Обязательные требования к значимому объекту КИИ: специальный регуляторный контур, не тождественный обязательной сертификации продукции.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Сертификат как доказательство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t>Сертификат не является универсальным разрешением на использование продукта.</a:t>
            </a:r>
          </a:p>
          <a:p>
            <a:pPr marL="0" lvl="0" indent="0">
              <a:buNone/>
            </a:pPr>
            <a:r>
              <a:t>Проверяйте:</a:t>
            </a:r>
          </a:p>
          <a:p>
            <a:pPr lvl="0"/>
            <a:r>
              <a:t>объект сертификации и его конфигурацию;</a:t>
            </a:r>
          </a:p>
          <a:p>
            <a:pPr lvl="0"/>
            <a:r>
              <a:t>версию, срок и условия действия;</a:t>
            </a:r>
          </a:p>
          <a:p>
            <a:pPr lvl="0"/>
            <a:r>
              <a:t>схему, область и ограничения;</a:t>
            </a:r>
          </a:p>
          <a:p>
            <a:pPr lvl="0"/>
            <a:r>
              <a:t>связь с фактически применяемым решением;</a:t>
            </a:r>
          </a:p>
          <a:p>
            <a:pPr lvl="0"/>
            <a:r>
              <a:t>дополнительные обязательные требования к объекту КИИ.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 err="1"/>
              <a:t>Аккредитация</a:t>
            </a:r>
            <a:r>
              <a:rPr dirty="0"/>
              <a:t> и </a:t>
            </a:r>
            <a:r>
              <a:rPr dirty="0" err="1"/>
              <a:t>испытания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pPr marL="0" lvl="0" indent="0">
              <a:buNone/>
            </a:pPr>
            <a:r>
              <a:rPr dirty="0" err="1"/>
              <a:t>Аккредитация</a:t>
            </a:r>
            <a:r>
              <a:rPr dirty="0"/>
              <a:t> </a:t>
            </a:r>
            <a:r>
              <a:rPr dirty="0" err="1"/>
              <a:t>подтверждает</a:t>
            </a:r>
            <a:r>
              <a:rPr dirty="0"/>
              <a:t> </a:t>
            </a:r>
            <a:r>
              <a:rPr dirty="0" err="1"/>
              <a:t>компетентность</a:t>
            </a:r>
            <a:r>
              <a:rPr dirty="0"/>
              <a:t> </a:t>
            </a:r>
            <a:r>
              <a:rPr dirty="0" err="1"/>
              <a:t>участника</a:t>
            </a:r>
            <a:r>
              <a:rPr dirty="0"/>
              <a:t> </a:t>
            </a:r>
            <a:r>
              <a:rPr dirty="0" err="1"/>
              <a:t>выполнять</a:t>
            </a:r>
            <a:r>
              <a:rPr dirty="0"/>
              <a:t> </a:t>
            </a:r>
            <a:r>
              <a:rPr dirty="0" err="1"/>
              <a:t>работы</a:t>
            </a:r>
            <a:r>
              <a:rPr dirty="0"/>
              <a:t> в </a:t>
            </a:r>
            <a:r>
              <a:rPr dirty="0" err="1"/>
              <a:t>определённой</a:t>
            </a:r>
            <a:r>
              <a:rPr dirty="0"/>
              <a:t> </a:t>
            </a:r>
            <a:r>
              <a:rPr dirty="0" err="1"/>
              <a:t>области</a:t>
            </a:r>
            <a:r>
              <a:rPr dirty="0"/>
              <a:t>.</a:t>
            </a:r>
          </a:p>
          <a:p>
            <a:pPr marL="0" lvl="0" indent="0">
              <a:buNone/>
            </a:pPr>
            <a:r>
              <a:rPr dirty="0" err="1"/>
              <a:t>При</a:t>
            </a:r>
            <a:r>
              <a:rPr dirty="0"/>
              <a:t> </a:t>
            </a:r>
            <a:r>
              <a:rPr dirty="0" err="1"/>
              <a:t>оценке</a:t>
            </a:r>
            <a:r>
              <a:rPr dirty="0"/>
              <a:t> </a:t>
            </a:r>
            <a:r>
              <a:rPr dirty="0" err="1"/>
              <a:t>испытаний</a:t>
            </a:r>
            <a:r>
              <a:rPr dirty="0"/>
              <a:t> </a:t>
            </a:r>
            <a:r>
              <a:rPr dirty="0" err="1"/>
              <a:t>уточняют</a:t>
            </a:r>
            <a:r>
              <a:rPr dirty="0"/>
              <a:t>:</a:t>
            </a:r>
          </a:p>
          <a:p>
            <a:pPr lvl="0"/>
            <a:r>
              <a:rPr dirty="0" err="1"/>
              <a:t>кто</a:t>
            </a:r>
            <a:r>
              <a:rPr dirty="0"/>
              <a:t> </a:t>
            </a:r>
            <a:r>
              <a:rPr dirty="0" err="1"/>
              <a:t>выполнил</a:t>
            </a:r>
            <a:r>
              <a:rPr dirty="0"/>
              <a:t> </a:t>
            </a:r>
            <a:r>
              <a:rPr dirty="0" err="1"/>
              <a:t>работу</a:t>
            </a:r>
            <a:r>
              <a:rPr dirty="0"/>
              <a:t>;</a:t>
            </a:r>
          </a:p>
          <a:p>
            <a:pPr lvl="0"/>
            <a:r>
              <a:rPr dirty="0"/>
              <a:t>в </a:t>
            </a:r>
            <a:r>
              <a:rPr dirty="0" err="1"/>
              <a:t>какой</a:t>
            </a:r>
            <a:r>
              <a:rPr dirty="0"/>
              <a:t> </a:t>
            </a:r>
            <a:r>
              <a:rPr dirty="0" err="1"/>
              <a:t>области</a:t>
            </a:r>
            <a:r>
              <a:rPr dirty="0"/>
              <a:t> </a:t>
            </a:r>
            <a:r>
              <a:rPr dirty="0" err="1"/>
              <a:t>компетентности</a:t>
            </a:r>
            <a:r>
              <a:rPr dirty="0"/>
              <a:t>;</a:t>
            </a:r>
          </a:p>
          <a:p>
            <a:pPr lvl="0"/>
            <a:r>
              <a:rPr dirty="0" err="1"/>
              <a:t>по</a:t>
            </a:r>
            <a:r>
              <a:rPr dirty="0"/>
              <a:t> </a:t>
            </a:r>
            <a:r>
              <a:rPr dirty="0" err="1"/>
              <a:t>какой</a:t>
            </a:r>
            <a:r>
              <a:rPr dirty="0"/>
              <a:t> </a:t>
            </a:r>
            <a:r>
              <a:rPr dirty="0" err="1"/>
              <a:t>методике</a:t>
            </a:r>
            <a:r>
              <a:rPr dirty="0"/>
              <a:t>;</a:t>
            </a:r>
          </a:p>
          <a:p>
            <a:pPr lvl="0"/>
            <a:r>
              <a:rPr dirty="0" err="1"/>
              <a:t>какие</a:t>
            </a:r>
            <a:r>
              <a:rPr dirty="0"/>
              <a:t> </a:t>
            </a:r>
            <a:r>
              <a:rPr dirty="0" err="1"/>
              <a:t>средства</a:t>
            </a:r>
            <a:r>
              <a:rPr dirty="0"/>
              <a:t> и </a:t>
            </a:r>
            <a:r>
              <a:rPr dirty="0" err="1"/>
              <a:t>данные</a:t>
            </a:r>
            <a:r>
              <a:rPr dirty="0"/>
              <a:t> </a:t>
            </a:r>
            <a:r>
              <a:rPr dirty="0" err="1"/>
              <a:t>использованы</a:t>
            </a:r>
            <a:r>
              <a:rPr dirty="0"/>
              <a:t>;</a:t>
            </a:r>
          </a:p>
          <a:p>
            <a:pPr lvl="0"/>
            <a:r>
              <a:rPr dirty="0" err="1"/>
              <a:t>каковы</a:t>
            </a:r>
            <a:r>
              <a:rPr dirty="0"/>
              <a:t> </a:t>
            </a:r>
            <a:r>
              <a:rPr dirty="0" err="1"/>
              <a:t>ограничения</a:t>
            </a:r>
            <a:r>
              <a:rPr dirty="0"/>
              <a:t> </a:t>
            </a:r>
            <a:r>
              <a:rPr dirty="0" err="1"/>
              <a:t>результата</a:t>
            </a:r>
            <a:r>
              <a:rPr dirty="0"/>
              <a:t>.</a:t>
            </a:r>
          </a:p>
          <a:p>
            <a:pPr marL="0" lvl="0" indent="0">
              <a:buNone/>
            </a:pPr>
            <a:r>
              <a:rPr dirty="0" err="1"/>
              <a:t>Статус</a:t>
            </a:r>
            <a:r>
              <a:rPr dirty="0"/>
              <a:t> </a:t>
            </a:r>
            <a:r>
              <a:rPr dirty="0" err="1"/>
              <a:t>участника</a:t>
            </a:r>
            <a:r>
              <a:rPr dirty="0"/>
              <a:t> </a:t>
            </a:r>
            <a:r>
              <a:rPr dirty="0" err="1"/>
              <a:t>конкретной</a:t>
            </a:r>
            <a:r>
              <a:rPr dirty="0"/>
              <a:t> </a:t>
            </a:r>
            <a:r>
              <a:rPr dirty="0" err="1"/>
              <a:t>добровольной</a:t>
            </a:r>
            <a:r>
              <a:rPr dirty="0"/>
              <a:t> </a:t>
            </a:r>
            <a:r>
              <a:rPr dirty="0" err="1"/>
              <a:t>системы</a:t>
            </a:r>
            <a:r>
              <a:rPr dirty="0"/>
              <a:t> </a:t>
            </a:r>
            <a:r>
              <a:rPr dirty="0" err="1"/>
              <a:t>подтверждения</a:t>
            </a:r>
            <a:r>
              <a:rPr dirty="0"/>
              <a:t> </a:t>
            </a:r>
            <a:r>
              <a:rPr dirty="0" err="1"/>
              <a:t>соответствия</a:t>
            </a:r>
            <a:r>
              <a:rPr dirty="0"/>
              <a:t> </a:t>
            </a:r>
            <a:r>
              <a:rPr dirty="0" err="1"/>
              <a:t>проверяют</a:t>
            </a:r>
            <a:r>
              <a:rPr dirty="0"/>
              <a:t> </a:t>
            </a:r>
            <a:r>
              <a:rPr dirty="0" err="1"/>
              <a:t>по</a:t>
            </a:r>
            <a:r>
              <a:rPr dirty="0"/>
              <a:t> </a:t>
            </a:r>
            <a:r>
              <a:rPr dirty="0" err="1"/>
              <a:t>её</a:t>
            </a:r>
            <a:r>
              <a:rPr dirty="0"/>
              <a:t> </a:t>
            </a:r>
            <a:r>
              <a:rPr dirty="0" err="1"/>
              <a:t>правилам</a:t>
            </a:r>
            <a:r>
              <a:rPr dirty="0"/>
              <a:t> и </a:t>
            </a:r>
            <a:r>
              <a:rPr dirty="0" err="1"/>
              <a:t>применимым</a:t>
            </a:r>
            <a:r>
              <a:rPr dirty="0"/>
              <a:t> </a:t>
            </a:r>
            <a:r>
              <a:rPr dirty="0" err="1"/>
              <a:t>требованиям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 err="1"/>
              <a:t>Роль</a:t>
            </a:r>
            <a:r>
              <a:rPr dirty="0"/>
              <a:t> </a:t>
            </a:r>
            <a:r>
              <a:rPr dirty="0" err="1"/>
              <a:t>стандартизации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t>Технические комитеты участвуют в подготовке документов по стандартизации в закреплённых областях.</a:t>
            </a:r>
          </a:p>
          <a:p>
            <a:pPr marL="0" lvl="0" indent="0">
              <a:buNone/>
            </a:pPr>
            <a:r>
              <a:t>Для курса важны не названия комитетов сами по себе, а практический вопрос:</a:t>
            </a:r>
          </a:p>
          <a:p>
            <a:pPr marL="0" lvl="0" indent="0">
              <a:buNone/>
            </a:pPr>
            <a:r>
              <a:rPr b="1"/>
              <a:t>Как стандарт помогает обосновать требование, характеристику или метод проверки?</a:t>
            </a:r>
          </a:p>
          <a:p>
            <a:pPr marL="0" lvl="0" indent="0">
              <a:buNone/>
            </a:pPr>
            <a:r>
              <a:t>Материалы по доверенным ПАК и документам стандартизации подробно рассматриваются в лекции 13.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Рабочая карточка решения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20802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Поле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Что фиксировать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Решение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что планируется или выполнено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Основание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норма, договор, риск или внутреннее правило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Граница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объект, компонент, процесс, версия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Доказательство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акт, протокол, журнал, схема, сертификат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Ограничение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чего доказательство не подтверждает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Пересмотр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событие, владелец и срок проверки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Связь с курсом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Лекция 2: применимость требований начинается с определения субъекта и объекта КИИ.</a:t>
            </a:r>
          </a:p>
          <a:p>
            <a:pPr lvl="0"/>
            <a:r>
              <a:t>Лекции 3–11: решения о категорировании, защите и реагировании требуют доказательств выполнения.</a:t>
            </a:r>
          </a:p>
          <a:p>
            <a:pPr lvl="0"/>
            <a:r>
              <a:t>Лекция 13: стандарты и ПНСТ для доверенных ПАК.</a:t>
            </a:r>
          </a:p>
          <a:p>
            <a:pPr lvl="0"/>
            <a:r>
              <a:t>Лекция 14: оценка соответствия и границы сертификата.</a:t>
            </a:r>
          </a:p>
          <a:p>
            <a:pPr lvl="0"/>
            <a:r>
              <a:t>Лекции 15–16: доказательная база, корректирующие меры и цикл улучшений.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 err="1"/>
              <a:t>Итог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lvl="0" indent="0">
              <a:buNone/>
            </a:pPr>
            <a:r>
              <a:rPr lang="ru-RU" b="1" dirty="0"/>
              <a:t>Не «найти документ», а установить:</a:t>
            </a:r>
          </a:p>
          <a:p>
            <a:pPr lvl="0"/>
            <a:r>
              <a:rPr dirty="0" err="1"/>
              <a:t>основание</a:t>
            </a:r>
            <a:endParaRPr dirty="0"/>
          </a:p>
          <a:p>
            <a:pPr lvl="0"/>
            <a:r>
              <a:rPr dirty="0" err="1"/>
              <a:t>применимость</a:t>
            </a:r>
            <a:endParaRPr dirty="0"/>
          </a:p>
          <a:p>
            <a:pPr lvl="0"/>
            <a:r>
              <a:rPr dirty="0" err="1"/>
              <a:t>решение</a:t>
            </a:r>
            <a:endParaRPr dirty="0"/>
          </a:p>
          <a:p>
            <a:pPr lvl="0"/>
            <a:r>
              <a:rPr dirty="0" err="1"/>
              <a:t>доказательство</a:t>
            </a:r>
            <a:endParaRPr dirty="0"/>
          </a:p>
          <a:p>
            <a:pPr lvl="0"/>
            <a:r>
              <a:rPr dirty="0" err="1"/>
              <a:t>ограничение</a:t>
            </a:r>
            <a:endParaRPr dirty="0"/>
          </a:p>
          <a:p>
            <a:pPr lvl="0"/>
            <a:r>
              <a:rPr dirty="0" err="1"/>
              <a:t>пересмотр</a:t>
            </a:r>
            <a:endParaRPr dirty="0"/>
          </a:p>
          <a:p>
            <a:pPr marL="0" lvl="0" indent="0">
              <a:buNone/>
            </a:pPr>
            <a:r>
              <a:rPr dirty="0" err="1"/>
              <a:t>Эта</a:t>
            </a:r>
            <a:r>
              <a:rPr dirty="0"/>
              <a:t> </a:t>
            </a:r>
            <a:r>
              <a:rPr dirty="0" err="1"/>
              <a:t>последовательность</a:t>
            </a:r>
            <a:r>
              <a:rPr dirty="0"/>
              <a:t> </a:t>
            </a:r>
            <a:r>
              <a:rPr dirty="0" err="1"/>
              <a:t>будет</a:t>
            </a:r>
            <a:r>
              <a:rPr dirty="0"/>
              <a:t> </a:t>
            </a:r>
            <a:r>
              <a:rPr dirty="0" err="1"/>
              <a:t>использоваться</a:t>
            </a:r>
            <a:r>
              <a:rPr dirty="0"/>
              <a:t> </a:t>
            </a:r>
            <a:r>
              <a:rPr dirty="0" err="1"/>
              <a:t>во</a:t>
            </a:r>
            <a:r>
              <a:rPr dirty="0"/>
              <a:t> </a:t>
            </a:r>
            <a:r>
              <a:rPr dirty="0" err="1"/>
              <a:t>всех</a:t>
            </a:r>
            <a:r>
              <a:rPr dirty="0"/>
              <a:t> </a:t>
            </a:r>
            <a:r>
              <a:rPr dirty="0" err="1"/>
              <a:t>следующих</a:t>
            </a:r>
            <a:r>
              <a:rPr dirty="0"/>
              <a:t> </a:t>
            </a:r>
            <a:r>
              <a:rPr dirty="0" err="1"/>
              <a:t>модулях</a:t>
            </a:r>
            <a:r>
              <a:rPr dirty="0"/>
              <a:t> </a:t>
            </a:r>
            <a:r>
              <a:rPr dirty="0" err="1"/>
              <a:t>курса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577</Words>
  <Application>Microsoft Office PowerPoint</Application>
  <PresentationFormat>Экран (16:9)</PresentationFormat>
  <Paragraphs>98</Paragraphs>
  <Slides>12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Лекция 1</vt:lpstr>
      <vt:lpstr>Центральный вопрос</vt:lpstr>
      <vt:lpstr>Карта источников</vt:lpstr>
      <vt:lpstr>Иерархия и применимость</vt:lpstr>
      <vt:lpstr>Технический регламент и стандарт</vt:lpstr>
      <vt:lpstr>Подтверждение соответствия</vt:lpstr>
      <vt:lpstr>Сертификат как доказательство</vt:lpstr>
      <vt:lpstr>Аккредитация и испытания</vt:lpstr>
      <vt:lpstr>Роль стандартизации</vt:lpstr>
      <vt:lpstr>Рабочая карточка решения</vt:lpstr>
      <vt:lpstr>Связь с курсом</vt:lpstr>
      <vt:lpstr>Итог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8</TotalTime>
  <Words>46</Words>
  <Application>Microsoft Office PowerPoint</Application>
  <PresentationFormat>Экран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Лекция 1</dc:title>
  <dc:creator/>
  <cp:keywords/>
  <cp:lastModifiedBy>RAA</cp:lastModifiedBy>
  <cp:revision>1</cp:revision>
  <dcterms:created xsi:type="dcterms:W3CDTF">2026-10-06T06:54:59Z</dcterms:created>
  <dcterms:modified xsi:type="dcterms:W3CDTF">2026-10-06T06:59:34Z</dcterms:modified>
</cp:coreProperties>
</file>