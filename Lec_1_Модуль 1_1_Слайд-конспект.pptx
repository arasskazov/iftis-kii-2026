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08" d="100"/>
          <a:sy n="108" d="100"/>
        </p:scale>
        <p:origin x="722" y="4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/mnt/data/a_high_tech_isometric_3d_illustration_of_a_modular_batch_1.png">
            <a:extLst>
              <a:ext uri="{FF2B5EF4-FFF2-40B4-BE49-F238E27FC236}">
                <a16:creationId xmlns:a16="http://schemas.microsoft.com/office/drawing/2014/main" id="{BF32EBF7-C8A6-42CD-90E8-59FCA44C53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2000"/>
          </a:blip>
          <a:srcRect l="32000" r="12320"/>
          <a:stretch/>
        </p:blipFill>
        <p:spPr>
          <a:xfrm>
            <a:off x="160158" y="-16565"/>
            <a:ext cx="1840921" cy="1860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 0" descr="/mnt/data/a_high_tech_isometric_3d_illustration_of_a_modular_batch_1.png">
            <a:extLst>
              <a:ext uri="{FF2B5EF4-FFF2-40B4-BE49-F238E27FC236}">
                <a16:creationId xmlns:a16="http://schemas.microsoft.com/office/drawing/2014/main" id="{469EBB0B-36EA-4B29-9BBE-DAD46164C2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2000"/>
          </a:blip>
          <a:srcRect l="32000" r="12320"/>
          <a:stretch/>
        </p:blipFill>
        <p:spPr>
          <a:xfrm>
            <a:off x="246296" y="75480"/>
            <a:ext cx="1787912" cy="180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Image 0" descr="/mnt/data/a_high_tech_isometric_3d_illustration_of_a_modular_batch_1.png">
            <a:extLst>
              <a:ext uri="{FF2B5EF4-FFF2-40B4-BE49-F238E27FC236}">
                <a16:creationId xmlns:a16="http://schemas.microsoft.com/office/drawing/2014/main" id="{FCC64FF2-3323-4E69-826A-7400014FD5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2000"/>
          </a:blip>
          <a:srcRect l="32000" r="12320"/>
          <a:stretch/>
        </p:blipFill>
        <p:spPr>
          <a:xfrm>
            <a:off x="2220282" y="524552"/>
            <a:ext cx="4332918" cy="437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33733" cy="459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95130"/>
            <a:ext cx="8229600" cy="3799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 1" descr="/mnt/data/asset_icons/image3.png">
            <a:extLst>
              <a:ext uri="{FF2B5EF4-FFF2-40B4-BE49-F238E27FC236}">
                <a16:creationId xmlns:a16="http://schemas.microsoft.com/office/drawing/2014/main" id="{07B1F67F-77AB-4D11-A16B-35A1040E62A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90933" y="138406"/>
            <a:ext cx="1102360" cy="45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asskazov/IFTIS-KII-2026/blob/main/Lec_1/L1_questionnarie.md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st.gov.ru/" TargetMode="External"/><Relationship Id="rId3" Type="http://schemas.openxmlformats.org/officeDocument/2006/relationships/hyperlink" Target="http://publication.pravo.gov.ru/Document/View/0001201506300012" TargetMode="External"/><Relationship Id="rId7" Type="http://schemas.openxmlformats.org/officeDocument/2006/relationships/hyperlink" Target="http://publication.pravo.gov.ru/" TargetMode="External"/><Relationship Id="rId2" Type="http://schemas.openxmlformats.org/officeDocument/2006/relationships/hyperlink" Target="http://publication.pravo.gov.ru/Document/View/000120021230002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ublication.pravo.gov.ru/Document/View/0001201707260023" TargetMode="External"/><Relationship Id="rId5" Type="http://schemas.openxmlformats.org/officeDocument/2006/relationships/hyperlink" Target="http://publication.pravo.gov.ru/Document/View/0001200806270001" TargetMode="External"/><Relationship Id="rId4" Type="http://schemas.openxmlformats.org/officeDocument/2006/relationships/hyperlink" Target="http://publication.pravo.gov.ru/Document/View/0001201312280035" TargetMode="External"/><Relationship Id="rId9" Type="http://schemas.openxmlformats.org/officeDocument/2006/relationships/hyperlink" Target="https://fsa.gov.r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Лекция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b="1"/>
              <a:t>Нормативно-правовое обеспечение критической информационной инфраструктуры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Техническое регулирование: как читать требования и подтверждать решения</a:t>
            </a:r>
          </a:p>
          <a:p>
            <a:pPr marL="0" lvl="0" indent="0">
              <a:buNone/>
            </a:pPr>
            <a:r>
              <a:t>(Лекции 32 часа, практ занятия 32 часа)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Центральный вопрос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Что требуется доказать?</a:t>
            </a:r>
          </a:p>
          <a:p>
            <a:pPr marL="0" lvl="0" indent="0">
              <a:buNone/>
            </a:pPr>
            <a:r>
              <a:t>Не достаточно назвать закон, стандарт или сертификат.</a:t>
            </a:r>
          </a:p>
          <a:p>
            <a:pPr marL="0" lvl="0" indent="0">
              <a:buNone/>
            </a:pPr>
            <a:r>
              <a:t>Для каждого решения специалист отвечает:</a:t>
            </a:r>
          </a:p>
          <a:p>
            <a:pPr lvl="0"/>
            <a:r>
              <a:t>какая норма или условие применяется;</a:t>
            </a:r>
          </a:p>
          <a:p>
            <a:pPr lvl="0"/>
            <a:r>
              <a:t>к какому объекту и в каких границах;</a:t>
            </a:r>
          </a:p>
          <a:p>
            <a:pPr lvl="0"/>
            <a:r>
              <a:t>что именно организация обязана или решила сделать;</a:t>
            </a:r>
          </a:p>
          <a:p>
            <a:pPr lvl="0"/>
            <a:r>
              <a:t>чем подтверждается выполнение;</a:t>
            </a:r>
          </a:p>
          <a:p>
            <a:pPr lvl="0"/>
            <a:r>
              <a:t>когда вывод нужно пересмотреть.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Карта источников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1988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Источник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Роль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Федеральный закон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устанавливает правовую рамку и полномочия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Подзаконный нормативный акт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конкретизирует порядок и требования в пределах компетенции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Документ по стандартизации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описывает согласованные подходы и характеристики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Договор, закупка, локальный акт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задаёт обязательства конкретной организации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Сертификат, протокол, журнал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служит доказательством в своей области действия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32200"/>
            <a:ext cx="8229600" cy="825500"/>
          </a:xfrm>
        </p:spPr>
        <p:txBody>
          <a:bodyPr/>
          <a:lstStyle/>
          <a:p>
            <a:pPr marL="0" lvl="0" indent="0">
              <a:buNone/>
            </a:pPr>
            <a:r>
              <a:t>Ни один источник нельзя оценивать только по названию: важны предмет, адресат, редакция и дата действия.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Иерархия и применимость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Два разных вопроса</a:t>
            </a:r>
          </a:p>
          <a:p>
            <a:pPr marL="342900" lvl="0" indent="-342900">
              <a:buAutoNum type="arabicPeriod"/>
            </a:pPr>
            <a:r>
              <a:t>Не противоречит ли документ акту большей юридической силы?</a:t>
            </a:r>
          </a:p>
          <a:p>
            <a:pPr marL="342900" lvl="0" indent="-342900">
              <a:buAutoNum type="arabicPeriod"/>
            </a:pPr>
            <a:r>
              <a:t>Применим ли он к данному объекту и ситуации?</a:t>
            </a:r>
          </a:p>
          <a:p>
            <a:pPr marL="0" lvl="0" indent="0">
              <a:buNone/>
            </a:pPr>
            <a:r>
              <a:t>Специальное регулирование КИИ применяется в пределах своего предмета и круга адресатов. Общий стандарт или локальный документ не отменяет специальное обязательное требование.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Технический регламент и стандарт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Категория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Главное различие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Технический регламент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устанавливает обязательные требования в предусмотренной законом сфере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Национальный стандарт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в общем случае применяется добровольно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ПНСТ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документ для апробации; срок действия — не более трёх лет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14700"/>
            <a:ext cx="8229600" cy="1143000"/>
          </a:xfrm>
        </p:spPr>
        <p:txBody>
          <a:bodyPr/>
          <a:lstStyle/>
          <a:p>
            <a:pPr marL="0" lvl="0" indent="0">
              <a:buNone/>
            </a:pPr>
            <a:r>
              <a:t>Применение стандарта может стать обязательным, если это прямо следует из закона, нормативного акта в пределах компетенции или договора.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Подтверждение соответствия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Не смешивать три конструкции</a:t>
            </a:r>
          </a:p>
          <a:p>
            <a:pPr lvl="0"/>
            <a:r>
              <a:t>Обязательное подтверждение соответствия продукции: только в случаях, заданных техническим регламентом.</a:t>
            </a:r>
          </a:p>
          <a:p>
            <a:pPr lvl="0"/>
            <a:r>
              <a:t>Добровольная сертификация: по инициативе заявителя и правилам соответствующей системы.</a:t>
            </a:r>
          </a:p>
          <a:p>
            <a:pPr lvl="0"/>
            <a:r>
              <a:t>Обязательные требования к значимому объекту КИИ: специальный регуляторный контур, не тождественный обязательной сертификации продукции.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Сертификат как доказательство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Сертификат не является универсальным разрешением на использование продукта.</a:t>
            </a:r>
          </a:p>
          <a:p>
            <a:pPr marL="0" lvl="0" indent="0">
              <a:buNone/>
            </a:pPr>
            <a:r>
              <a:t>Проверяйте:</a:t>
            </a:r>
          </a:p>
          <a:p>
            <a:pPr lvl="0"/>
            <a:r>
              <a:t>объект сертификации и его конфигурацию;</a:t>
            </a:r>
          </a:p>
          <a:p>
            <a:pPr lvl="0"/>
            <a:r>
              <a:t>версию, срок и условия действия;</a:t>
            </a:r>
          </a:p>
          <a:p>
            <a:pPr lvl="0"/>
            <a:r>
              <a:t>схему, область и ограничения;</a:t>
            </a:r>
          </a:p>
          <a:p>
            <a:pPr lvl="0"/>
            <a:r>
              <a:t>связь с фактически применяемым решением;</a:t>
            </a:r>
          </a:p>
          <a:p>
            <a:pPr lvl="0"/>
            <a:r>
              <a:t>дополнительные обязательные требования к объекту КИИ.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Аккредитация и испытания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Аккредитация подтверждает компетентность участника выполнять работы в определённой области.</a:t>
            </a:r>
          </a:p>
          <a:p>
            <a:pPr marL="0" lvl="0" indent="0">
              <a:buNone/>
            </a:pPr>
            <a:r>
              <a:t>При оценке испытаний уточняют:</a:t>
            </a:r>
          </a:p>
          <a:p>
            <a:pPr lvl="0"/>
            <a:r>
              <a:t>кто выполнил работу;</a:t>
            </a:r>
          </a:p>
          <a:p>
            <a:pPr lvl="0"/>
            <a:r>
              <a:t>в какой области компетентности;</a:t>
            </a:r>
          </a:p>
          <a:p>
            <a:pPr lvl="0"/>
            <a:r>
              <a:t>по какой методике;</a:t>
            </a:r>
          </a:p>
          <a:p>
            <a:pPr lvl="0"/>
            <a:r>
              <a:t>какие средства и данные использованы;</a:t>
            </a:r>
          </a:p>
          <a:p>
            <a:pPr lvl="0"/>
            <a:r>
              <a:t>каковы ограничения результата.</a:t>
            </a:r>
          </a:p>
          <a:p>
            <a:pPr marL="0" lvl="0" indent="0">
              <a:buNone/>
            </a:pPr>
            <a:r>
              <a:t>Статус участника конкретной добровольной системы подтверждения соответствия проверяют по её правилам и применимым требованиям.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Роль стандартизации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Технические комитеты участвуют в подготовке документов по стандартизации в закреплённых областях.</a:t>
            </a:r>
          </a:p>
          <a:p>
            <a:pPr marL="0" lvl="0" indent="0">
              <a:buNone/>
            </a:pPr>
            <a:r>
              <a:t>Для курса важны не названия комитетов сами по себе, а практический вопрос:</a:t>
            </a:r>
          </a:p>
          <a:p>
            <a:pPr marL="0" lvl="0" indent="0">
              <a:buNone/>
            </a:pPr>
            <a:r>
              <a:rPr b="1"/>
              <a:t>Как стандарт помогает обосновать требование, характеристику или метод проверки?</a:t>
            </a:r>
          </a:p>
          <a:p>
            <a:pPr marL="0" lvl="0" indent="0">
              <a:buNone/>
            </a:pPr>
            <a:r>
              <a:t>Материалы по доверенным ПАК и документам стандартизации подробно рассматриваются в лекции 13.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Рабочая карточка решения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Поле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Что фиксировать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что планируется или выполнено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Основание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норма, договор, риск или внутреннее правило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Граница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объект, компонент, процесс, версия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Доказательство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акт, протокол, журнал, схема, сертификат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Ограничение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чего доказательство не подтверждает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Пересмотр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событие, владелец и срок проверки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Связь с курсом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Лекция 2: применимость требований начинается с определения субъекта и объекта КИИ.</a:t>
            </a:r>
          </a:p>
          <a:p>
            <a:pPr lvl="0"/>
            <a:r>
              <a:t>Лекции 3–11: решения о категорировании, защите и реагировании требуют доказательств выполнения.</a:t>
            </a:r>
          </a:p>
          <a:p>
            <a:pPr lvl="0"/>
            <a:r>
              <a:t>Лекция 13: стандарты и ПНСТ для доверенных ПАК.</a:t>
            </a:r>
          </a:p>
          <a:p>
            <a:pPr lvl="0"/>
            <a:r>
              <a:t>Лекция 14: оценка соответствия и границы сертификата.</a:t>
            </a:r>
          </a:p>
          <a:p>
            <a:pPr lvl="0"/>
            <a:r>
              <a:t>Лекции 15–16: доказательная база, корректирующие меры и цикл улучшений.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Итог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Не «найти документ», а установить:</a:t>
            </a:r>
          </a:p>
          <a:p>
            <a:pPr lvl="0"/>
            <a:r>
              <a:t>основание</a:t>
            </a:r>
          </a:p>
          <a:p>
            <a:pPr lvl="0"/>
            <a:r>
              <a:t>применимость</a:t>
            </a:r>
          </a:p>
          <a:p>
            <a:pPr lvl="0"/>
            <a:r>
              <a:t>решение</a:t>
            </a:r>
          </a:p>
          <a:p>
            <a:pPr lvl="0"/>
            <a:r>
              <a:t>доказательство</a:t>
            </a:r>
          </a:p>
          <a:p>
            <a:pPr lvl="0"/>
            <a:r>
              <a:t>ограничение</a:t>
            </a:r>
          </a:p>
          <a:p>
            <a:pPr lvl="0"/>
            <a:r>
              <a:t>пересмотр</a:t>
            </a:r>
          </a:p>
          <a:p>
            <a:pPr marL="0" lvl="0" indent="0">
              <a:buNone/>
            </a:pPr>
            <a:r>
              <a:t>Вопросы к лекции </a:t>
            </a:r>
            <a:r>
              <a:rPr>
                <a:hlinkClick r:id="rId2"/>
              </a:rPr>
              <a:t>https://github.com/arasskazov/IFTIS-KII-2026/blob/main/Lec_1/L1_questionnarie.md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b="1" dirty="0" err="1"/>
              <a:t>Основные</a:t>
            </a:r>
            <a:r>
              <a:rPr b="1" dirty="0"/>
              <a:t> </a:t>
            </a:r>
            <a:r>
              <a:rPr b="1" dirty="0" err="1"/>
              <a:t>источники</a:t>
            </a:r>
            <a:endParaRPr b="1" dirty="0"/>
          </a:p>
          <a:p>
            <a:pPr marL="342900" lvl="0" indent="-342900">
              <a:buAutoNum type="arabicPeriod"/>
            </a:pPr>
            <a:r>
              <a:rPr dirty="0" err="1"/>
              <a:t>Федеральный</a:t>
            </a:r>
            <a:r>
              <a:rPr dirty="0"/>
              <a:t> </a:t>
            </a:r>
            <a:r>
              <a:rPr dirty="0" err="1"/>
              <a:t>закон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27.12.2002 №184-ФЗ «О </a:t>
            </a:r>
            <a:r>
              <a:rPr dirty="0" err="1"/>
              <a:t>техническом</a:t>
            </a:r>
            <a:r>
              <a:rPr dirty="0"/>
              <a:t> </a:t>
            </a:r>
            <a:r>
              <a:rPr dirty="0" err="1"/>
              <a:t>регулировании</a:t>
            </a:r>
            <a:r>
              <a:rPr dirty="0"/>
              <a:t>». </a:t>
            </a:r>
            <a:r>
              <a:rPr dirty="0" err="1"/>
              <a:t>Официальное</a:t>
            </a:r>
            <a:r>
              <a:rPr dirty="0"/>
              <a:t> </a:t>
            </a:r>
            <a:r>
              <a:rPr dirty="0" err="1"/>
              <a:t>опубликование</a:t>
            </a:r>
            <a:r>
              <a:rPr dirty="0"/>
              <a:t>: </a:t>
            </a:r>
            <a:r>
              <a:rPr dirty="0">
                <a:hlinkClick r:id="rId2"/>
              </a:rPr>
              <a:t>http://publication.pravo.gov.ru/Document/View/0001200212300020</a:t>
            </a:r>
            <a:r>
              <a:rPr dirty="0"/>
              <a:t>.</a:t>
            </a:r>
          </a:p>
          <a:p>
            <a:pPr marL="342900" lvl="0" indent="-342900">
              <a:buAutoNum type="arabicPeriod"/>
            </a:pPr>
            <a:r>
              <a:rPr dirty="0" err="1"/>
              <a:t>Федеральный</a:t>
            </a:r>
            <a:r>
              <a:rPr dirty="0"/>
              <a:t> </a:t>
            </a:r>
            <a:r>
              <a:rPr dirty="0" err="1"/>
              <a:t>закон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29.06.2015 №162-ФЗ «О </a:t>
            </a:r>
            <a:r>
              <a:rPr dirty="0" err="1"/>
              <a:t>стандартизации</a:t>
            </a:r>
            <a:r>
              <a:rPr dirty="0"/>
              <a:t> в </a:t>
            </a:r>
            <a:r>
              <a:rPr dirty="0" err="1"/>
              <a:t>Российской</a:t>
            </a:r>
            <a:r>
              <a:rPr dirty="0"/>
              <a:t> </a:t>
            </a:r>
            <a:r>
              <a:rPr dirty="0" err="1"/>
              <a:t>Федерации</a:t>
            </a:r>
            <a:r>
              <a:rPr dirty="0"/>
              <a:t>». </a:t>
            </a:r>
            <a:r>
              <a:rPr dirty="0" err="1"/>
              <a:t>Официальное</a:t>
            </a:r>
            <a:r>
              <a:rPr dirty="0"/>
              <a:t> </a:t>
            </a:r>
            <a:r>
              <a:rPr dirty="0" err="1"/>
              <a:t>опубликование</a:t>
            </a:r>
            <a:r>
              <a:rPr dirty="0"/>
              <a:t>: </a:t>
            </a:r>
            <a:r>
              <a:rPr dirty="0">
                <a:hlinkClick r:id="rId3"/>
              </a:rPr>
              <a:t>http://publication.pravo.gov.ru/Document/View/0001201506300012</a:t>
            </a:r>
            <a:r>
              <a:rPr dirty="0"/>
              <a:t>.</a:t>
            </a:r>
          </a:p>
          <a:p>
            <a:pPr marL="342900" lvl="0" indent="-342900">
              <a:buAutoNum type="arabicPeriod"/>
            </a:pPr>
            <a:r>
              <a:rPr dirty="0" err="1"/>
              <a:t>Федеральный</a:t>
            </a:r>
            <a:r>
              <a:rPr dirty="0"/>
              <a:t> </a:t>
            </a:r>
            <a:r>
              <a:rPr dirty="0" err="1"/>
              <a:t>закон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28.12.2013 №412-ФЗ «</a:t>
            </a:r>
            <a:r>
              <a:rPr dirty="0" err="1"/>
              <a:t>Об</a:t>
            </a:r>
            <a:r>
              <a:rPr dirty="0"/>
              <a:t> </a:t>
            </a:r>
            <a:r>
              <a:rPr dirty="0" err="1"/>
              <a:t>аккредитации</a:t>
            </a:r>
            <a:r>
              <a:rPr dirty="0"/>
              <a:t> в </a:t>
            </a:r>
            <a:r>
              <a:rPr dirty="0" err="1"/>
              <a:t>национальной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 </a:t>
            </a:r>
            <a:r>
              <a:rPr dirty="0" err="1"/>
              <a:t>аккредитации</a:t>
            </a:r>
            <a:r>
              <a:rPr dirty="0"/>
              <a:t>». </a:t>
            </a:r>
            <a:r>
              <a:rPr dirty="0" err="1"/>
              <a:t>Официальное</a:t>
            </a:r>
            <a:r>
              <a:rPr dirty="0"/>
              <a:t> </a:t>
            </a:r>
            <a:r>
              <a:rPr dirty="0" err="1"/>
              <a:t>опубликование</a:t>
            </a:r>
            <a:r>
              <a:rPr dirty="0"/>
              <a:t>: </a:t>
            </a:r>
            <a:r>
              <a:rPr dirty="0">
                <a:hlinkClick r:id="rId4"/>
              </a:rPr>
              <a:t>http://publication.pravo.gov.ru/Document/View/0001201312280035</a:t>
            </a:r>
            <a:r>
              <a:rPr dirty="0"/>
              <a:t>.</a:t>
            </a:r>
          </a:p>
          <a:p>
            <a:pPr marL="342900" lvl="0" indent="-342900">
              <a:buAutoNum type="arabicPeriod"/>
            </a:pPr>
            <a:r>
              <a:rPr dirty="0" err="1"/>
              <a:t>Федеральный</a:t>
            </a:r>
            <a:r>
              <a:rPr dirty="0"/>
              <a:t> </a:t>
            </a:r>
            <a:r>
              <a:rPr dirty="0" err="1"/>
              <a:t>закон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26.06.2008 №102-ФЗ «</a:t>
            </a:r>
            <a:r>
              <a:rPr dirty="0" err="1"/>
              <a:t>Об</a:t>
            </a:r>
            <a:r>
              <a:rPr dirty="0"/>
              <a:t> </a:t>
            </a:r>
            <a:r>
              <a:rPr dirty="0" err="1"/>
              <a:t>обеспечении</a:t>
            </a:r>
            <a:r>
              <a:rPr dirty="0"/>
              <a:t> </a:t>
            </a:r>
            <a:r>
              <a:rPr dirty="0" err="1"/>
              <a:t>единства</a:t>
            </a:r>
            <a:r>
              <a:rPr dirty="0"/>
              <a:t> </a:t>
            </a:r>
            <a:r>
              <a:rPr dirty="0" err="1"/>
              <a:t>измерений</a:t>
            </a:r>
            <a:r>
              <a:rPr dirty="0"/>
              <a:t>». </a:t>
            </a:r>
            <a:r>
              <a:rPr dirty="0" err="1"/>
              <a:t>Официальное</a:t>
            </a:r>
            <a:r>
              <a:rPr dirty="0"/>
              <a:t> </a:t>
            </a:r>
            <a:r>
              <a:rPr dirty="0" err="1"/>
              <a:t>опубликование</a:t>
            </a:r>
            <a:r>
              <a:rPr dirty="0"/>
              <a:t>: </a:t>
            </a:r>
            <a:r>
              <a:rPr dirty="0">
                <a:hlinkClick r:id="rId5"/>
              </a:rPr>
              <a:t>http://publication.pravo.gov.ru/Document/View/0001200806270001</a:t>
            </a:r>
            <a:r>
              <a:rPr dirty="0"/>
              <a:t>.</a:t>
            </a:r>
          </a:p>
          <a:p>
            <a:pPr marL="342900" lvl="0" indent="-342900">
              <a:buAutoNum type="arabicPeriod"/>
            </a:pPr>
            <a:r>
              <a:rPr dirty="0" err="1"/>
              <a:t>Федеральный</a:t>
            </a:r>
            <a:r>
              <a:rPr dirty="0"/>
              <a:t> </a:t>
            </a:r>
            <a:r>
              <a:rPr dirty="0" err="1"/>
              <a:t>закон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26.07.2017 №187-ФЗ «О </a:t>
            </a:r>
            <a:r>
              <a:rPr dirty="0" err="1"/>
              <a:t>безопасности</a:t>
            </a:r>
            <a:r>
              <a:rPr dirty="0"/>
              <a:t> </a:t>
            </a:r>
            <a:r>
              <a:rPr dirty="0" err="1"/>
              <a:t>критической</a:t>
            </a:r>
            <a:r>
              <a:rPr dirty="0"/>
              <a:t> </a:t>
            </a:r>
            <a:r>
              <a:rPr dirty="0" err="1"/>
              <a:t>информационной</a:t>
            </a:r>
            <a:r>
              <a:rPr dirty="0"/>
              <a:t> </a:t>
            </a:r>
            <a:r>
              <a:rPr dirty="0" err="1"/>
              <a:t>инфраструктуры</a:t>
            </a:r>
            <a:r>
              <a:rPr dirty="0"/>
              <a:t> </a:t>
            </a:r>
            <a:r>
              <a:rPr dirty="0" err="1"/>
              <a:t>Российской</a:t>
            </a:r>
            <a:r>
              <a:rPr dirty="0"/>
              <a:t> </a:t>
            </a:r>
            <a:r>
              <a:rPr dirty="0" err="1"/>
              <a:t>Федерации</a:t>
            </a:r>
            <a:r>
              <a:rPr dirty="0"/>
              <a:t>». </a:t>
            </a:r>
            <a:r>
              <a:rPr dirty="0" err="1"/>
              <a:t>Официальное</a:t>
            </a:r>
            <a:r>
              <a:rPr dirty="0"/>
              <a:t> </a:t>
            </a:r>
            <a:r>
              <a:rPr dirty="0" err="1"/>
              <a:t>опубликование</a:t>
            </a:r>
            <a:r>
              <a:rPr dirty="0"/>
              <a:t>: </a:t>
            </a:r>
            <a:r>
              <a:rPr dirty="0">
                <a:hlinkClick r:id="rId6"/>
              </a:rPr>
              <a:t>http://publication.pravo.gov.ru/Document/View/0001201707260023</a:t>
            </a:r>
            <a:r>
              <a:rPr dirty="0"/>
              <a:t>.</a:t>
            </a:r>
          </a:p>
          <a:p>
            <a:pPr marL="342900" lvl="0" indent="-342900">
              <a:buAutoNum type="arabicPeriod"/>
            </a:pPr>
            <a:r>
              <a:rPr dirty="0" err="1"/>
              <a:t>Официальный</a:t>
            </a:r>
            <a:r>
              <a:rPr dirty="0"/>
              <a:t> </a:t>
            </a:r>
            <a:r>
              <a:rPr dirty="0" err="1"/>
              <a:t>интернет-портал</a:t>
            </a:r>
            <a:r>
              <a:rPr dirty="0"/>
              <a:t> </a:t>
            </a:r>
            <a:r>
              <a:rPr dirty="0" err="1"/>
              <a:t>правовой</a:t>
            </a:r>
            <a:r>
              <a:rPr dirty="0"/>
              <a:t> </a:t>
            </a:r>
            <a:r>
              <a:rPr dirty="0" err="1"/>
              <a:t>информации</a:t>
            </a:r>
            <a:r>
              <a:rPr dirty="0"/>
              <a:t>: </a:t>
            </a:r>
            <a:r>
              <a:rPr dirty="0">
                <a:hlinkClick r:id="rId7"/>
              </a:rPr>
              <a:t>http://publication.pravo.gov.ru/</a:t>
            </a:r>
            <a:r>
              <a:rPr dirty="0"/>
              <a:t>.</a:t>
            </a:r>
          </a:p>
          <a:p>
            <a:pPr marL="342900" lvl="0" indent="-342900">
              <a:buAutoNum type="arabicPeriod"/>
            </a:pPr>
            <a:r>
              <a:rPr dirty="0" err="1"/>
              <a:t>Росстандарт</a:t>
            </a:r>
            <a:r>
              <a:rPr dirty="0"/>
              <a:t>: </a:t>
            </a:r>
            <a:r>
              <a:rPr dirty="0">
                <a:hlinkClick r:id="rId8"/>
              </a:rPr>
              <a:t>https://www.rst.gov.ru/</a:t>
            </a:r>
            <a:r>
              <a:rPr dirty="0"/>
              <a:t>.</a:t>
            </a:r>
          </a:p>
          <a:p>
            <a:pPr marL="342900" lvl="0" indent="-342900">
              <a:buAutoNum type="arabicPeriod"/>
            </a:pPr>
            <a:r>
              <a:rPr dirty="0" err="1"/>
              <a:t>Росаккредитация</a:t>
            </a:r>
            <a:r>
              <a:rPr dirty="0"/>
              <a:t>: </a:t>
            </a:r>
            <a:r>
              <a:rPr dirty="0">
                <a:hlinkClick r:id="rId9"/>
              </a:rPr>
              <a:t>https://fsa.gov.ru/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b="1" dirty="0" err="1"/>
              <a:t>Связанные</a:t>
            </a:r>
            <a:r>
              <a:rPr b="1" dirty="0"/>
              <a:t> </a:t>
            </a:r>
            <a:r>
              <a:rPr b="1" dirty="0" err="1"/>
              <a:t>источники</a:t>
            </a:r>
            <a:endParaRPr b="1" dirty="0"/>
          </a:p>
          <a:p>
            <a:pPr marL="342900" lvl="0" indent="-342900">
              <a:buAutoNum type="arabicPeriod" startAt="9"/>
            </a:pPr>
            <a:r>
              <a:rPr dirty="0"/>
              <a:t>ГОСТ Р ИСО/МЭК 17025. </a:t>
            </a:r>
            <a:r>
              <a:rPr dirty="0" err="1"/>
              <a:t>Общие</a:t>
            </a:r>
            <a:r>
              <a:rPr dirty="0"/>
              <a:t> </a:t>
            </a:r>
            <a:r>
              <a:rPr dirty="0" err="1"/>
              <a:t>требования</a:t>
            </a:r>
            <a:r>
              <a:rPr dirty="0"/>
              <a:t> к </a:t>
            </a:r>
            <a:r>
              <a:rPr dirty="0" err="1"/>
              <a:t>компетентности</a:t>
            </a:r>
            <a:r>
              <a:rPr dirty="0"/>
              <a:t> </a:t>
            </a:r>
            <a:r>
              <a:rPr dirty="0" err="1"/>
              <a:t>испытательных</a:t>
            </a:r>
            <a:r>
              <a:rPr dirty="0"/>
              <a:t> и </a:t>
            </a:r>
            <a:r>
              <a:rPr dirty="0" err="1"/>
              <a:t>калибровочных</a:t>
            </a:r>
            <a:r>
              <a:rPr dirty="0"/>
              <a:t> </a:t>
            </a:r>
            <a:r>
              <a:rPr dirty="0" err="1"/>
              <a:t>лабораторий</a:t>
            </a:r>
            <a:r>
              <a:rPr dirty="0"/>
              <a:t>.</a:t>
            </a:r>
          </a:p>
          <a:p>
            <a:pPr marL="342900" lvl="0" indent="-342900">
              <a:buAutoNum type="arabicPeriod" startAt="9"/>
            </a:pPr>
            <a:r>
              <a:rPr dirty="0"/>
              <a:t>ГОСТ Р ИСО/МЭК 17065. </a:t>
            </a:r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соответствия</a:t>
            </a:r>
            <a:r>
              <a:rPr dirty="0"/>
              <a:t>. </a:t>
            </a:r>
            <a:r>
              <a:rPr dirty="0" err="1"/>
              <a:t>Требования</a:t>
            </a:r>
            <a:r>
              <a:rPr dirty="0"/>
              <a:t> к </a:t>
            </a:r>
            <a:r>
              <a:rPr dirty="0" err="1"/>
              <a:t>органам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сертификации</a:t>
            </a:r>
            <a:r>
              <a:rPr dirty="0"/>
              <a:t> </a:t>
            </a:r>
            <a:r>
              <a:rPr dirty="0" err="1"/>
              <a:t>продукции</a:t>
            </a:r>
            <a:r>
              <a:rPr dirty="0"/>
              <a:t>, </a:t>
            </a:r>
            <a:r>
              <a:rPr dirty="0" err="1"/>
              <a:t>процессов</a:t>
            </a:r>
            <a:r>
              <a:rPr dirty="0"/>
              <a:t> и </a:t>
            </a:r>
            <a:r>
              <a:rPr dirty="0" err="1"/>
              <a:t>услуг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843</Words>
  <Application>Microsoft Office PowerPoint</Application>
  <PresentationFormat>Экран (16:9)</PresentationFormat>
  <Paragraphs>112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Лекция 1</vt:lpstr>
      <vt:lpstr>Центральный вопрос</vt:lpstr>
      <vt:lpstr>Карта источников</vt:lpstr>
      <vt:lpstr>Иерархия и применимость</vt:lpstr>
      <vt:lpstr>Технический регламент и стандарт</vt:lpstr>
      <vt:lpstr>Подтверждение соответствия</vt:lpstr>
      <vt:lpstr>Сертификат как доказательство</vt:lpstr>
      <vt:lpstr>Аккредитация и испытания</vt:lpstr>
      <vt:lpstr>Роль стандартизации</vt:lpstr>
      <vt:lpstr>Рабочая карточка решения</vt:lpstr>
      <vt:lpstr>Связь с курсом</vt:lpstr>
      <vt:lpstr>Итог</vt:lpstr>
      <vt:lpstr>Список литературы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Office PowerPoint</Application>
  <PresentationFormat>Экран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</dc:title>
  <dc:creator/>
  <cp:keywords/>
  <cp:lastModifiedBy>RAA</cp:lastModifiedBy>
  <cp:revision>1</cp:revision>
  <dcterms:created xsi:type="dcterms:W3CDTF">2026-10-06T08:13:16Z</dcterms:created>
  <dcterms:modified xsi:type="dcterms:W3CDTF">2026-10-06T08:14:42Z</dcterms:modified>
</cp:coreProperties>
</file>