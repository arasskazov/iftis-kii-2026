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8" d="100"/>
          <a:sy n="108" d="100"/>
        </p:scale>
        <p:origin x="720" y="4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90BFE-A4C7-4D38-BD6C-7BA5D3E2C77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F20D1-84DD-4747-9136-E0F59DF0E5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39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BF32EBF7-C8A6-42CD-90E8-59FCA44C5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160158" y="-16565"/>
            <a:ext cx="1840921" cy="1860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8F75-832F-47FF-9C43-BB2A2F47FAE3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4574-F3BB-413D-8749-4C1A3BD0B746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5598-8637-498E-84BB-33ABC92F4457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469EBB0B-36EA-4B29-9BBE-DAD46164C2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46296" y="75480"/>
            <a:ext cx="1787912" cy="18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FCCC1-D3AC-48FD-87EF-7514379D2153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965A-298E-4E61-9506-DFD33677047B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3096-A642-4C38-BC14-99FE87DB0845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FCC64FF2-3323-4E69-826A-7400014FD5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220282" y="524552"/>
            <a:ext cx="4332918" cy="43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1F96-B04B-4288-8CF7-10E6361AFE98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1264-CDF8-4197-805C-9FE4062F3454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A10F-42D6-42FB-A53A-CEA654F55455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AFE5-ABD0-4DDF-AC25-D60E5D44322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BE2E-167F-460F-86AE-B19739C41A5A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33733" cy="45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95130"/>
            <a:ext cx="8229600" cy="3799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52121-12E0-4596-A03B-297F33E4FBCF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1" descr="/mnt/data/asset_icons/image3.png">
            <a:extLst>
              <a:ext uri="{FF2B5EF4-FFF2-40B4-BE49-F238E27FC236}">
                <a16:creationId xmlns:a16="http://schemas.microsoft.com/office/drawing/2014/main" id="{07B1F67F-77AB-4D11-A16B-35A1040E62A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90933" y="138406"/>
            <a:ext cx="1102360" cy="45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271FF09-E113-4905-A857-CE070107F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Лекция 2. Применимость законодательства о КИИ: </a:t>
            </a:r>
            <a:br>
              <a:rPr lang="en-US" b="1" dirty="0"/>
            </a:br>
            <a:r>
              <a:rPr lang="ru-RU" b="1" dirty="0"/>
              <a:t>понятия, субъекты и факты</a:t>
            </a:r>
            <a:br>
              <a:rPr lang="ru-RU" b="1" dirty="0"/>
            </a:br>
            <a:endParaRPr lang="ru-RU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317BF74A-39C5-46FC-80FB-10CF21993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Вопрос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Применяется ли регулирование КИИ?</a:t>
            </a:r>
          </a:p>
          <a:p>
            <a:pPr marL="0" lvl="0" indent="0">
              <a:buNone/>
            </a:pPr>
            <a:r>
              <a:t>Нельзя ответить только названием организации или отрасли.</a:t>
            </a:r>
          </a:p>
          <a:p>
            <a:pPr marL="0" lvl="0" indent="0">
              <a:buNone/>
            </a:pPr>
            <a:r>
              <a:t>Нужно установить:</a:t>
            </a:r>
          </a:p>
          <a:p>
            <a:pPr lvl="0"/>
            <a:r>
              <a:t>кто действует;</a:t>
            </a:r>
          </a:p>
          <a:p>
            <a:pPr lvl="0"/>
            <a:r>
              <a:t>какими системами или сетями он владеет либо какое взаимодействие обеспечивает;</a:t>
            </a:r>
          </a:p>
          <a:p>
            <a:pPr lvl="0"/>
            <a:r>
              <a:t>в какой сфере функционирует объект;</a:t>
            </a:r>
          </a:p>
          <a:p>
            <a:pPr lvl="0"/>
            <a:r>
              <a:t>какие факты подтверждены, а какие неизвестны;</a:t>
            </a:r>
          </a:p>
          <a:p>
            <a:pPr lvl="0"/>
            <a:r>
              <a:t>по какой редакции нормы оценивается ситуация.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545EB6-E48D-4EAD-ADB7-63A5DDA3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Карта понятий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Понятие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Зачем оно нужно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Субъект КИИ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определяет адресата обязанностей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Объект КИИ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определяет, что может быть предметом дальнейшего анализа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Значимый объект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объект с категорией и учётом в реестре по установленному порядку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Компьютерная атака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описывает целенаправленное воздействие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Компьютерный инцидент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фиксирует нарушение функционирования или безопасности информации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32200"/>
            <a:ext cx="8229600" cy="825500"/>
          </a:xfrm>
        </p:spPr>
        <p:txBody>
          <a:bodyPr/>
          <a:lstStyle/>
          <a:p>
            <a:pPr marL="0" lvl="0" indent="0">
              <a:buNone/>
            </a:pPr>
            <a:r>
              <a:t>Термин нельзя применять вне его законодательной границы.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852C9B-3FE7-4082-A174-106F5080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Субъект и объект: порядок анализа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Сначала субъект, затем объект</a:t>
            </a:r>
          </a:p>
          <a:p>
            <a:pPr marL="342900" lvl="0" indent="-342900">
              <a:buAutoNum type="arabicPeriod"/>
            </a:pPr>
            <a:r>
              <a:t>Установить организационно-правовой статус лица.</a:t>
            </a:r>
          </a:p>
          <a:p>
            <a:pPr marL="342900" lvl="0" indent="-342900">
              <a:buAutoNum type="arabicPeriod"/>
            </a:pPr>
            <a:r>
              <a:t>Установить наличие систем, сетей или АСУ.</a:t>
            </a:r>
          </a:p>
          <a:p>
            <a:pPr marL="342900" lvl="0" indent="-342900">
              <a:buAutoNum type="arabicPeriod"/>
            </a:pPr>
            <a:r>
              <a:t>Проверить связь с предусмотренной законом сферой деятельности.</a:t>
            </a:r>
          </a:p>
          <a:p>
            <a:pPr marL="342900" lvl="0" indent="-342900">
              <a:buAutoNum type="arabicPeriod"/>
            </a:pPr>
            <a:r>
              <a:t>Отдельно проверить факты обеспечения взаимодействия.</a:t>
            </a:r>
          </a:p>
          <a:p>
            <a:pPr marL="342900" lvl="0" indent="-342900">
              <a:buAutoNum type="arabicPeriod"/>
            </a:pPr>
            <a:r>
              <a:t>Зафиксировать редакцию нормы и дату оценки.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C7BF30-923A-41E1-B620-7287DE8C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Два основания статуса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нужно подтвердить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Владение системами в предусмотренной сфере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российское юридическое лицо; законное основание владения; вид системы; сфера функционирования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Обеспечение взаимодействия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российское юридическое лицо; фактическая роль в обеспечении взаимодействия соответствующих систем или сетей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0700"/>
            <a:ext cx="8229600" cy="1397000"/>
          </a:xfrm>
        </p:spPr>
        <p:txBody>
          <a:bodyPr/>
          <a:lstStyle/>
          <a:p>
            <a:pPr marL="0" lvl="0" indent="0">
              <a:buNone/>
            </a:pPr>
            <a:r>
              <a:t>Оказание хостинга, связи или размещения оборудования не доказывает второе основание без фактов о взаимодействии.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8AEA9-754A-4A80-B438-9D0D10EA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Доказательства и пробелы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Выводы бывают трёх типов</a:t>
            </a:r>
          </a:p>
          <a:p>
            <a:pPr lvl="0"/>
            <a:r>
              <a:rPr b="1"/>
              <a:t>Подтверждено:</a:t>
            </a:r>
            <a:r>
              <a:t> имеются достаточные факты и источник.</a:t>
            </a:r>
          </a:p>
          <a:p>
            <a:pPr lvl="0"/>
            <a:r>
              <a:rPr b="1"/>
              <a:t>Не подтверждено:</a:t>
            </a:r>
            <a:r>
              <a:t> факты противоречат необходимому условию.</a:t>
            </a:r>
          </a:p>
          <a:p>
            <a:pPr lvl="0"/>
            <a:r>
              <a:rPr b="1"/>
              <a:t>Недостаточно данных:</a:t>
            </a:r>
            <a:r>
              <a:t> нельзя установить существенный элемент.</a:t>
            </a:r>
          </a:p>
          <a:p>
            <a:pPr marL="0" lvl="0" indent="0">
              <a:buNone/>
            </a:pPr>
            <a:r>
              <a:t>«Недостаточно данных» — профессиональный вывод, если он сопровождается перечнем нужных сведений и ответственным за их получение.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9652E0-AEDF-49DC-B9B1-3E08AD48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Отраслевая связь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Для основания владения проверяется функционирование систем в сферах, перечисленных в законе.</a:t>
            </a:r>
          </a:p>
          <a:p>
            <a:pPr marL="0" lvl="0" indent="0">
              <a:buNone/>
            </a:pPr>
            <a:r>
              <a:t>Необходимо доказать не название подразделения, а связь системы с соответствующей деятельностью: процесс, услуга, продукт, регулируемая функция или технологический контур.</a:t>
            </a:r>
          </a:p>
          <a:p>
            <a:pPr marL="0" lvl="0" indent="0">
              <a:buNone/>
            </a:pPr>
            <a:r>
              <a:t>Подробная работа с типовыми отраслевыми объектами и категорированием — в лекции 3.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AA851-2B2B-4EF3-9794-A498ED85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Полномочия и источники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Вопрос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Где искать основание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Кто и что обязан делать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Федеральный закон о КИИ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Как реализовать процедуру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подзаконные нормативные акты уполномоченных органов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Как квалифицировать факты в организации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реестры активов, схемы, договоры, регламенты, интервью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изменилось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официальная публикация, редакция, дата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952500"/>
          </a:xfrm>
        </p:spPr>
        <p:txBody>
          <a:bodyPr/>
          <a:lstStyle/>
          <a:p>
            <a:pPr marL="0" lvl="0" indent="0">
              <a:buNone/>
            </a:pPr>
            <a:r>
              <a:t>Полномочие органа на принятие акта проверяют до применения его требования.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B3E734-BFB9-4A77-B51B-A2ED4A3B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Категорирование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Категорирование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предположения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любая</a:t>
            </a:r>
            <a:r>
              <a:rPr dirty="0"/>
              <a:t> </a:t>
            </a:r>
            <a:r>
              <a:rPr dirty="0" err="1"/>
              <a:t>важная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значима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В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</a:t>
            </a:r>
            <a:r>
              <a:rPr dirty="0" err="1"/>
              <a:t>формируется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исходный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:</a:t>
            </a:r>
          </a:p>
          <a:p>
            <a:pPr marL="0" lvl="0" indent="0">
              <a:buNone/>
            </a:pPr>
            <a:r>
              <a:rPr b="1" dirty="0" err="1"/>
              <a:t>кто</a:t>
            </a:r>
            <a:r>
              <a:rPr b="1" dirty="0"/>
              <a:t> </a:t>
            </a:r>
            <a:r>
              <a:rPr b="1" dirty="0" err="1"/>
              <a:t>является</a:t>
            </a:r>
            <a:r>
              <a:rPr b="1" dirty="0"/>
              <a:t> </a:t>
            </a:r>
            <a:r>
              <a:rPr b="1" dirty="0" err="1"/>
              <a:t>субъектом</a:t>
            </a:r>
            <a:r>
              <a:rPr b="1" dirty="0"/>
              <a:t> и </a:t>
            </a:r>
            <a:r>
              <a:rPr b="1" dirty="0" err="1"/>
              <a:t>какие</a:t>
            </a:r>
            <a:r>
              <a:rPr b="1" dirty="0"/>
              <a:t> </a:t>
            </a:r>
            <a:r>
              <a:rPr b="1" dirty="0" err="1"/>
              <a:t>объекты</a:t>
            </a:r>
            <a:r>
              <a:rPr b="1" dirty="0"/>
              <a:t> </a:t>
            </a:r>
            <a:r>
              <a:rPr b="1" dirty="0" err="1"/>
              <a:t>требуют</a:t>
            </a:r>
            <a:r>
              <a:rPr b="1" dirty="0"/>
              <a:t> </a:t>
            </a:r>
            <a:r>
              <a:rPr b="1" dirty="0" err="1"/>
              <a:t>дальнейшей</a:t>
            </a:r>
            <a:r>
              <a:rPr b="1" dirty="0"/>
              <a:t> </a:t>
            </a:r>
            <a:r>
              <a:rPr b="1" dirty="0" err="1"/>
              <a:t>оценки</a:t>
            </a:r>
            <a:r>
              <a:rPr b="1" dirty="0"/>
              <a:t>.</a:t>
            </a:r>
          </a:p>
          <a:p>
            <a:pPr marL="0" lvl="0" indent="0">
              <a:buNone/>
            </a:pPr>
            <a:r>
              <a:rPr dirty="0" err="1"/>
              <a:t>Категории</a:t>
            </a:r>
            <a:r>
              <a:rPr dirty="0"/>
              <a:t>, </a:t>
            </a:r>
            <a:r>
              <a:rPr dirty="0" err="1"/>
              <a:t>показатели</a:t>
            </a:r>
            <a:r>
              <a:rPr dirty="0"/>
              <a:t> и </a:t>
            </a:r>
            <a:r>
              <a:rPr dirty="0" err="1"/>
              <a:t>процедура</a:t>
            </a:r>
            <a:r>
              <a:rPr dirty="0"/>
              <a:t> </a:t>
            </a:r>
            <a:r>
              <a:rPr dirty="0" err="1"/>
              <a:t>категорирования</a:t>
            </a:r>
            <a:r>
              <a:rPr dirty="0"/>
              <a:t> — </a:t>
            </a:r>
            <a:r>
              <a:rPr dirty="0" err="1"/>
              <a:t>предмет</a:t>
            </a:r>
            <a:r>
              <a:rPr dirty="0"/>
              <a:t> </a:t>
            </a:r>
            <a:r>
              <a:rPr dirty="0" err="1"/>
              <a:t>следующего</a:t>
            </a:r>
            <a:r>
              <a:rPr dirty="0"/>
              <a:t> </a:t>
            </a:r>
            <a:r>
              <a:rPr dirty="0" err="1"/>
              <a:t>модуля</a:t>
            </a:r>
            <a:r>
              <a:rPr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A790C6-830F-4821-8073-A87A6644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Паспорт применимости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988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Содержание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известно об организации и системе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документ, схема, договор, интервью, реестр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Правовое 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какое условие нормы подтверждает или не подтверждает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Ограничение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чего источник не позволяет установить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Следующее действие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уточнить, кто отвечает, когда пересмотреть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DF47CD-1033-4FC1-A22C-40E6FE17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dirty="0"/>
              <a:t>Вопросы к лекции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Почему отраслевое название организации недостаточно для вывода о её статусе как субъекта КИИ?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Постройте порядок анализа от факта об организации до решения о следующем действии. Какие две независимые ветви проверки применяются к российскому юридическому лицу?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Чем объект КИИ отличается от значимого объекта КИИ в учебной модели? Почему нельзя называть объект значимым до завершения установленной процедуры?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Почему предоставление услуг связи, хостинга или размещения оборудования не доказывает само по себе обеспечение взаимодействия систем или сетей?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Для чего в паспорте применимости фиксируют редакцию нормы и дату анализа?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Российская организация эксплуатирует АСУ, обслуживающую производственную площадку. В материалах есть схема системы и договор аренды оборудования, но нет данных о виде производственной деятельности. Сформулируйте вывод, укажите границу вывода и составьте перечень следующих действий.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7.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В кейсе известно, что организация размещает серверы финансовой компании, но неизвестно, участвует ли она в организации сетевого взаимодействия этой инфраструктуры. Заполните три строки паспорта применимости: факт, ограничение и следующий шаг.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D62E46-0533-47D3-9C46-9EB89335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Экран (16:9)</PresentationFormat>
  <Paragraphs>97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Лекция 2. Применимость законодательства о КИИ:  понятия, субъекты и факты </vt:lpstr>
      <vt:lpstr>Вопрос лекции</vt:lpstr>
      <vt:lpstr>Карта понятий</vt:lpstr>
      <vt:lpstr>Субъект и объект: порядок анализа</vt:lpstr>
      <vt:lpstr>Два основания статуса</vt:lpstr>
      <vt:lpstr>Доказательства и пробелы</vt:lpstr>
      <vt:lpstr>Отраслевая связь</vt:lpstr>
      <vt:lpstr>Полномочия и источники</vt:lpstr>
      <vt:lpstr>Категорирование</vt:lpstr>
      <vt:lpstr>Паспорт применимости</vt:lpstr>
      <vt:lpstr>Вопросы к лекции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Office PowerPoint</Application>
  <PresentationFormat>Экран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Применимость законодательства о КИИ:  понятия, субъекты и факты </dc:title>
  <dc:creator/>
  <cp:keywords/>
  <cp:lastModifiedBy>RAA</cp:lastModifiedBy>
  <cp:revision>1</cp:revision>
  <dcterms:created xsi:type="dcterms:W3CDTF">2026-10-06T13:00:36Z</dcterms:created>
  <dcterms:modified xsi:type="dcterms:W3CDTF">2026-10-13T10:39:33Z</dcterms:modified>
</cp:coreProperties>
</file>