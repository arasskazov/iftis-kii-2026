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08"/>
          <a:sy d="100" n="108"/>
        </p:scale>
        <p:origin x="722" y="4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BF32EBF7-C8A6-42CD-90E8-59FCA44C53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160158" y="-16565"/>
            <a:ext cx="1840921" cy="1860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469EBB0B-36EA-4B29-9BBE-DAD46164C2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46296" y="75480"/>
            <a:ext cx="1787912" cy="180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Image 0" descr="/mnt/data/a_high_tech_isometric_3d_illustration_of_a_modular_batch_1.png">
            <a:extLst>
              <a:ext uri="{FF2B5EF4-FFF2-40B4-BE49-F238E27FC236}">
                <a16:creationId xmlns:a16="http://schemas.microsoft.com/office/drawing/2014/main" id="{FCC64FF2-3323-4E69-826A-7400014FD5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2000"/>
          </a:blip>
          <a:srcRect l="32000" r="12320"/>
          <a:stretch/>
        </p:blipFill>
        <p:spPr>
          <a:xfrm>
            <a:off x="2220282" y="524552"/>
            <a:ext cx="4332918" cy="43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33733" cy="459709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795130"/>
            <a:ext cx="8229600" cy="379949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descr="/mnt/data/asset_icons/image3.png" id="7" name="Image 1">
            <a:extLst>
              <a:ext uri="{FF2B5EF4-FFF2-40B4-BE49-F238E27FC236}">
                <a16:creationId xmlns:a16="http://schemas.microsoft.com/office/drawing/2014/main" id="{07B1F67F-77AB-4D11-A16B-35A1040E62A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90933" y="138406"/>
            <a:ext cx="1102360" cy="45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4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Титул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Нормативно-правовое обеспечение критической информационной инфраструктуры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Лекция 4. Отраслевые условия, контроль и доказательства соответствия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Вопрос модуля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Какие дополнительные условия применимы к нашему решению?</a:t>
            </a:r>
          </a:p>
          <a:p>
            <a:pPr lvl="0" indent="0" marL="0">
              <a:buNone/>
            </a:pPr>
            <a:r>
              <a:rPr/>
              <a:t>После карточки категорирования нужно установить:</a:t>
            </a:r>
          </a:p>
          <a:p>
            <a:pPr lvl="0"/>
            <a:r>
              <a:rPr/>
              <a:t>применяются ли отраслевые особенности;</a:t>
            </a:r>
          </a:p>
          <a:p>
            <a:pPr lvl="0"/>
            <a:r>
              <a:rPr/>
              <a:t>какие дополнительные обязанности они создают;</a:t>
            </a:r>
          </a:p>
          <a:p>
            <a:pPr lvl="0"/>
            <a:r>
              <a:rPr/>
              <a:t>чем подтверждено выполнение каждого требования;</a:t>
            </a:r>
          </a:p>
          <a:p>
            <a:pPr lvl="0"/>
            <a:r>
              <a:rPr/>
              <a:t>где находятся пробелы и кто их устраняет;</a:t>
            </a:r>
          </a:p>
          <a:p>
            <a:pPr lvl="0"/>
            <a:r>
              <a:rPr/>
              <a:t>какие факты могут потребовать отдельной правовой оценки.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Три разных контура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Контур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Рабочий вопрос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Результат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Отраслевые условия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Уточняет ли отраслевой акт процедуру для объекта?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дополнение к карточке категорирования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Контроль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Какие доказательства выполнения обязанностей доступны?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проверочный лист доказательств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Правовой риск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Может ли факт потребовать специальной юридической оценки?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карта риска, а не квалификация ответственности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14700"/>
            <a:ext cx="8229600" cy="1143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Не смешивайте обязанность, доказательство и последствие нарушения.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Отраслевые особенности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Отраслевые особенности могут уточнять общую процедуру категорирования для определённых сфер.</a:t>
            </a:r>
          </a:p>
          <a:p>
            <a:pPr lvl="0" indent="0" marL="0">
              <a:buNone/>
            </a:pPr>
            <a:r>
              <a:rPr/>
              <a:t>Для каждого дополнительного условия проверяются:</a:t>
            </a:r>
          </a:p>
          <a:p>
            <a:pPr lvl="0" indent="-342900" marL="342900">
              <a:buAutoNum type="arabicPeriod"/>
            </a:pPr>
            <a:r>
              <a:rPr/>
              <a:t>сфера и адресат акта;</a:t>
            </a:r>
          </a:p>
          <a:p>
            <a:pPr lvl="0" indent="-342900" marL="342900">
              <a:buAutoNum type="arabicPeriod"/>
            </a:pPr>
            <a:r>
              <a:rPr/>
              <a:t>редакция и дата действия;</a:t>
            </a:r>
          </a:p>
          <a:p>
            <a:pPr lvl="0" indent="-342900" marL="342900">
              <a:buAutoNum type="arabicPeriod"/>
            </a:pPr>
            <a:r>
              <a:rPr/>
              <a:t>связь условия с границами объекта;</a:t>
            </a:r>
          </a:p>
          <a:p>
            <a:pPr lvl="0" indent="-342900" marL="342900">
              <a:buAutoNum type="arabicPeriod"/>
            </a:pPr>
            <a:r>
              <a:rPr/>
              <a:t>владелец исполнения;</a:t>
            </a:r>
          </a:p>
          <a:p>
            <a:pPr lvl="0" indent="-342900" marL="342900">
              <a:buAutoNum type="arabicPeriod"/>
            </a:pPr>
            <a:r>
              <a:rPr/>
              <a:t>доказательство выполнения;</a:t>
            </a:r>
          </a:p>
          <a:p>
            <a:pPr lvl="0" indent="-342900" marL="342900">
              <a:buAutoNum type="arabicPeriod"/>
            </a:pPr>
            <a:r>
              <a:rPr/>
              <a:t>срок и триггер пересмотра.</a:t>
            </a:r>
          </a:p>
          <a:p>
            <a:pPr lvl="0" indent="0" marL="0">
              <a:buNone/>
            </a:pPr>
            <a:r>
              <a:rPr/>
              <a:t>Отраслевой акт не предполагается только из названия компании или системы.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Карта применимости отраслевого условия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283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фиксируется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Источник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официальный акт и редакция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Основание применимости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сфера, адресат, объект, дата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Дополнительное условие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что требуется сделать или учесть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Доказательство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документ, запись, расчёт, назначение роли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Ограничение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чего ещё нельзя утверждать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владелец, срок, пересмотр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46500"/>
            <a:ext cx="8229600" cy="711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Карта становится приложением к карточке решения о категорировании.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Контроль как проверка доказательств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соответствия начинается не с поиска наказания, а с вопросов:</a:t>
            </a:r>
          </a:p>
          <a:p>
            <a:pPr lvl="0"/>
            <a:r>
              <a:rPr/>
              <a:t>какому требованию соответствует действие;</a:t>
            </a:r>
          </a:p>
          <a:p>
            <a:pPr lvl="0"/>
            <a:r>
              <a:rPr/>
              <a:t>какой документ или запись доказывает выполнение;</a:t>
            </a:r>
          </a:p>
          <a:p>
            <a:pPr lvl="0"/>
            <a:r>
              <a:rPr/>
              <a:t>где хранится доказательство и кто за него отвечает;</a:t>
            </a:r>
          </a:p>
          <a:p>
            <a:pPr lvl="0"/>
            <a:r>
              <a:rPr/>
              <a:t>насколько оно актуально и применимо к объекту;</a:t>
            </a:r>
          </a:p>
          <a:p>
            <a:pPr lvl="0"/>
            <a:r>
              <a:rPr/>
              <a:t>что делать, если доказательство отсутствует или противоречиво.</a:t>
            </a:r>
          </a:p>
          <a:p>
            <a:pPr lvl="0" indent="0" marL="0">
              <a:buNone/>
            </a:pPr>
            <a:r>
              <a:rPr/>
              <a:t>Внутренняя учебная проверка не имитирует полномочия государственного органа.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Реестр соответствия и пробелов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787400"/>
          <a:ext cx="82296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Требование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Применимость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Доказательство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Статус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Пробел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Действие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Нормативное или внутреннее условие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почему относится к объекту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источник и владелец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подтверждено / частично / не подтверждено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чего не хватает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кто и к какому сроку исправляет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92400"/>
            <a:ext cx="8229600" cy="1778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Реестр поддерживает управляемое устранение пробелов, а не декларацию соответствия.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Риск и юридическая оценка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Факт несоответствия не равен автоматически административному составу.</a:t>
            </a:r>
          </a:p>
          <a:p>
            <a:pPr lvl="0" indent="0" marL="0">
              <a:buNone/>
            </a:pPr>
            <a:r>
              <a:rPr/>
              <a:t>Чтобы оценивать правовой риск, необходимо отдельно установить:</a:t>
            </a:r>
          </a:p>
          <a:p>
            <a:pPr lvl="0"/>
            <a:r>
              <a:rPr/>
              <a:t>применимую норму и её редакцию;</a:t>
            </a:r>
          </a:p>
          <a:p>
            <a:pPr lvl="0"/>
            <a:r>
              <a:rPr/>
              <a:t>адресата обязанности;</a:t>
            </a:r>
          </a:p>
          <a:p>
            <a:pPr lvl="0"/>
            <a:r>
              <a:rPr/>
              <a:t>подтверждённое действие или бездействие;</a:t>
            </a:r>
          </a:p>
          <a:p>
            <a:pPr lvl="0"/>
            <a:r>
              <a:rPr/>
              <a:t>условия ответственности и возможные исключения;</a:t>
            </a:r>
          </a:p>
          <a:p>
            <a:pPr lvl="0"/>
            <a:r>
              <a:rPr/>
              <a:t>доказательства и компетентного оценщика.</a:t>
            </a:r>
          </a:p>
          <a:p>
            <a:pPr lvl="0" indent="0" marL="0">
              <a:buNone/>
            </a:pPr>
            <a:r>
              <a:rPr/>
              <a:t>Учебный результат: отметить необходимость юридической оценки, а не назначить санкцию.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Роли и договоры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Договоры, регламенты и должностные обязанности полезны для распределения работ, доступа и доказательств.</a:t>
            </a:r>
          </a:p>
          <a:p>
            <a:pPr lvl="0" indent="0" marL="0">
              <a:buNone/>
            </a:pPr>
            <a:r>
              <a:rPr/>
              <a:t>Но они не заменяют правовую квалификацию и не создают автоматически статус субъекта КИИ или ответственность третьего лица.</a:t>
            </a:r>
          </a:p>
          <a:p>
            <a:pPr lvl="0" indent="0" marL="0">
              <a:buNone/>
            </a:pPr>
            <a:r>
              <a:rPr/>
              <a:t>В карточке и реестре фиксируют владельца действия, границы ответственности и требуемые подтверждения факта.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Практика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ПЗ-3 формирует третий артефакт досье — реестр соответствия и пробелов.</a:t>
            </a:r>
          </a:p>
          <a:p>
            <a:pPr lvl="0" indent="0" marL="0">
              <a:buNone/>
            </a:pPr>
            <a:r>
              <a:rPr/>
              <a:t>Студент связывает:</a:t>
            </a:r>
          </a:p>
          <a:p>
            <a:pPr lvl="0"/>
            <a:r>
              <a:rPr/>
              <a:t>паспорт применимости;</a:t>
            </a:r>
          </a:p>
          <a:p>
            <a:pPr lvl="0"/>
            <a:r>
              <a:rPr/>
              <a:t>карточку категорирования;</a:t>
            </a:r>
          </a:p>
          <a:p>
            <a:pPr lvl="0"/>
            <a:r>
              <a:rPr/>
              <a:t>отраслевые условия, если подтверждена их применимость;</a:t>
            </a:r>
          </a:p>
          <a:p>
            <a:pPr lvl="0"/>
            <a:r>
              <a:rPr/>
              <a:t>доказательства и незакрытые задачи.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Связь с курсом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Лекция 2: устанавливает применимость и границы.</a:t>
            </a:r>
          </a:p>
          <a:p>
            <a:pPr lvl="0"/>
            <a:r>
              <a:rPr/>
              <a:t>Лекция 3: фиксирует решение о категорировании.</a:t>
            </a:r>
          </a:p>
          <a:p>
            <a:pPr lvl="0"/>
            <a:r>
              <a:rPr/>
              <a:t>Лекция 4: добавляет применимые условия и контроль доказательств.</a:t>
            </a:r>
          </a:p>
          <a:p>
            <a:pPr lvl="0"/>
            <a:r>
              <a:rPr/>
              <a:t>Лекции 5–11: закрывают пробелы организационными и техническими мерами.</a:t>
            </a:r>
          </a:p>
          <a:p>
            <a:pPr lvl="0"/>
            <a:r>
              <a:rPr/>
              <a:t>Лекция 16: объединяет артефакты в итоговое досье.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Формула модуля</a:t>
            </a:r>
          </a:p>
          <a:p>
            <a:pPr lvl="0" indent="0" marL="0">
              <a:buNone/>
            </a:pPr>
            <a:r>
              <a:rPr b="1"/>
              <a:t>условие → применимость → доказательство → статус → действие → пересмотр</a:t>
            </a:r>
          </a:p>
          <a:p>
            <a:pPr lvl="0" indent="0" marL="0">
              <a:buNone/>
            </a:pPr>
            <a:r>
              <a:rPr/>
              <a:t>Соответствие можно поддерживать, только если каждое требование связано с объектом, доказательством и ответственным действием.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Office PowerPoint</Application>
  <PresentationFormat>Экран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2026-10-06T13:00:36Z</dcterms:created>
  <dcterms:modified xsi:type="dcterms:W3CDTF">2026-10-06T13:00:36Z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