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22" d="100"/>
          <a:sy n="122" d="100"/>
        </p:scale>
        <p:origin x="322" y="8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BF32EBF7-C8A6-42CD-90E8-59FCA44C53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160158" y="-16565"/>
            <a:ext cx="1840921" cy="1860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469EBB0B-36EA-4B29-9BBE-DAD46164C2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246296" y="75480"/>
            <a:ext cx="1787912" cy="1807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FCC64FF2-3323-4E69-826A-7400014FD5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2220282" y="524552"/>
            <a:ext cx="4332918" cy="4379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7433733" cy="4597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95130"/>
            <a:ext cx="8229600" cy="37994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Image 1" descr="/mnt/data/asset_icons/image3.png">
            <a:extLst>
              <a:ext uri="{FF2B5EF4-FFF2-40B4-BE49-F238E27FC236}">
                <a16:creationId xmlns:a16="http://schemas.microsoft.com/office/drawing/2014/main" id="{07B1F67F-77AB-4D11-A16B-35A1040E62A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890933" y="138406"/>
            <a:ext cx="1102360" cy="45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ru-RU" dirty="0"/>
              <a:t>Лекция 4. Отраслевые условия, контроль и доказательства соответствия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lvl="0"/>
            <a:endParaRPr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Вопрос</a:t>
            </a:r>
            <a:r>
              <a:rPr dirty="0"/>
              <a:t> </a:t>
            </a:r>
            <a:r>
              <a:rPr lang="ru-RU" dirty="0"/>
              <a:t>лекции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 err="1"/>
              <a:t>Какие</a:t>
            </a:r>
            <a:r>
              <a:rPr b="1" dirty="0"/>
              <a:t> </a:t>
            </a:r>
            <a:r>
              <a:rPr b="1" dirty="0" err="1"/>
              <a:t>дополнительные</a:t>
            </a:r>
            <a:r>
              <a:rPr b="1" dirty="0"/>
              <a:t> </a:t>
            </a:r>
            <a:r>
              <a:rPr b="1" dirty="0" err="1"/>
              <a:t>условия</a:t>
            </a:r>
            <a:r>
              <a:rPr b="1" dirty="0"/>
              <a:t> </a:t>
            </a:r>
            <a:r>
              <a:rPr b="1" dirty="0" err="1"/>
              <a:t>применимы</a:t>
            </a:r>
            <a:r>
              <a:rPr b="1" dirty="0"/>
              <a:t> к </a:t>
            </a:r>
            <a:r>
              <a:rPr b="1" dirty="0" err="1"/>
              <a:t>нашему</a:t>
            </a:r>
            <a:r>
              <a:rPr b="1" dirty="0"/>
              <a:t> </a:t>
            </a:r>
            <a:r>
              <a:rPr b="1" dirty="0" err="1"/>
              <a:t>решению</a:t>
            </a:r>
            <a:r>
              <a:rPr b="1" dirty="0"/>
              <a:t>?</a:t>
            </a:r>
          </a:p>
          <a:p>
            <a:pPr lvl="0"/>
            <a:r>
              <a:rPr dirty="0" err="1"/>
              <a:t>применяются</a:t>
            </a:r>
            <a:r>
              <a:rPr dirty="0"/>
              <a:t> </a:t>
            </a:r>
            <a:r>
              <a:rPr dirty="0" err="1"/>
              <a:t>ли</a:t>
            </a:r>
            <a:r>
              <a:rPr dirty="0"/>
              <a:t> </a:t>
            </a:r>
            <a:r>
              <a:rPr dirty="0" err="1"/>
              <a:t>отраслевые</a:t>
            </a:r>
            <a:r>
              <a:rPr dirty="0"/>
              <a:t> </a:t>
            </a:r>
            <a:r>
              <a:rPr dirty="0" err="1"/>
              <a:t>особенности</a:t>
            </a:r>
            <a:r>
              <a:rPr dirty="0"/>
              <a:t>;</a:t>
            </a:r>
          </a:p>
          <a:p>
            <a:pPr lvl="0"/>
            <a:r>
              <a:rPr dirty="0" err="1"/>
              <a:t>какие</a:t>
            </a:r>
            <a:r>
              <a:rPr dirty="0"/>
              <a:t> </a:t>
            </a:r>
            <a:r>
              <a:rPr dirty="0" err="1"/>
              <a:t>дополнительные</a:t>
            </a:r>
            <a:r>
              <a:rPr dirty="0"/>
              <a:t> </a:t>
            </a:r>
            <a:r>
              <a:rPr dirty="0" err="1"/>
              <a:t>обязанности</a:t>
            </a:r>
            <a:r>
              <a:rPr dirty="0"/>
              <a:t> </a:t>
            </a:r>
            <a:r>
              <a:rPr dirty="0" err="1"/>
              <a:t>они</a:t>
            </a:r>
            <a:r>
              <a:rPr dirty="0"/>
              <a:t> </a:t>
            </a:r>
            <a:r>
              <a:rPr dirty="0" err="1"/>
              <a:t>создают</a:t>
            </a:r>
            <a:r>
              <a:rPr dirty="0"/>
              <a:t>;</a:t>
            </a:r>
          </a:p>
          <a:p>
            <a:pPr lvl="0"/>
            <a:r>
              <a:rPr dirty="0" err="1"/>
              <a:t>чем</a:t>
            </a:r>
            <a:r>
              <a:rPr dirty="0"/>
              <a:t> </a:t>
            </a:r>
            <a:r>
              <a:rPr dirty="0" err="1"/>
              <a:t>подтверждено</a:t>
            </a:r>
            <a:r>
              <a:rPr dirty="0"/>
              <a:t> </a:t>
            </a:r>
            <a:r>
              <a:rPr dirty="0" err="1"/>
              <a:t>выполнение</a:t>
            </a:r>
            <a:r>
              <a:rPr dirty="0"/>
              <a:t> </a:t>
            </a:r>
            <a:r>
              <a:rPr dirty="0" err="1"/>
              <a:t>каждого</a:t>
            </a:r>
            <a:r>
              <a:rPr dirty="0"/>
              <a:t> </a:t>
            </a:r>
            <a:r>
              <a:rPr dirty="0" err="1"/>
              <a:t>требования</a:t>
            </a:r>
            <a:r>
              <a:rPr dirty="0"/>
              <a:t>;</a:t>
            </a:r>
          </a:p>
          <a:p>
            <a:pPr lvl="0"/>
            <a:r>
              <a:rPr dirty="0" err="1"/>
              <a:t>где</a:t>
            </a:r>
            <a:r>
              <a:rPr dirty="0"/>
              <a:t> </a:t>
            </a:r>
            <a:r>
              <a:rPr dirty="0" err="1"/>
              <a:t>находятся</a:t>
            </a:r>
            <a:r>
              <a:rPr dirty="0"/>
              <a:t> </a:t>
            </a:r>
            <a:r>
              <a:rPr dirty="0" err="1"/>
              <a:t>пробелы</a:t>
            </a:r>
            <a:r>
              <a:rPr dirty="0"/>
              <a:t> и </a:t>
            </a:r>
            <a:r>
              <a:rPr dirty="0" err="1"/>
              <a:t>кто</a:t>
            </a:r>
            <a:r>
              <a:rPr dirty="0"/>
              <a:t> </a:t>
            </a:r>
            <a:r>
              <a:rPr dirty="0" err="1"/>
              <a:t>их</a:t>
            </a:r>
            <a:r>
              <a:rPr dirty="0"/>
              <a:t> </a:t>
            </a:r>
            <a:r>
              <a:rPr dirty="0" err="1"/>
              <a:t>устраняет</a:t>
            </a:r>
            <a:r>
              <a:rPr dirty="0"/>
              <a:t>;</a:t>
            </a:r>
          </a:p>
          <a:p>
            <a:pPr lvl="0"/>
            <a:r>
              <a:rPr dirty="0" err="1"/>
              <a:t>какие</a:t>
            </a:r>
            <a:r>
              <a:rPr dirty="0"/>
              <a:t> </a:t>
            </a:r>
            <a:r>
              <a:rPr dirty="0" err="1"/>
              <a:t>факты</a:t>
            </a:r>
            <a:r>
              <a:rPr dirty="0"/>
              <a:t> </a:t>
            </a:r>
            <a:r>
              <a:rPr dirty="0" err="1"/>
              <a:t>могут</a:t>
            </a:r>
            <a:r>
              <a:rPr dirty="0"/>
              <a:t> </a:t>
            </a:r>
            <a:r>
              <a:rPr dirty="0" err="1"/>
              <a:t>потребовать</a:t>
            </a:r>
            <a:r>
              <a:rPr dirty="0"/>
              <a:t> </a:t>
            </a:r>
            <a:r>
              <a:rPr dirty="0" err="1"/>
              <a:t>отдельной</a:t>
            </a:r>
            <a:r>
              <a:rPr dirty="0"/>
              <a:t> </a:t>
            </a:r>
            <a:r>
              <a:rPr dirty="0" err="1"/>
              <a:t>правовой</a:t>
            </a:r>
            <a:r>
              <a:rPr dirty="0"/>
              <a:t> </a:t>
            </a:r>
            <a:r>
              <a:rPr dirty="0" err="1"/>
              <a:t>оценки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Три разных контура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0481537"/>
              </p:ext>
            </p:extLst>
          </p:nvPr>
        </p:nvGraphicFramePr>
        <p:xfrm>
          <a:off x="457200" y="787400"/>
          <a:ext cx="8229600" cy="180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64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9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Контур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Рабочий вопрос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Результат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Отраслевые условия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Уточняет ли отраслевой акт процедуру для объекта?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дополнение к карточке категорирования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Контроль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Какие доказательства выполнения обязанностей доступны?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проверочный лист доказательств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Правовой риск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Может ли факт потребовать специальной юридической оценки?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 err="1"/>
                        <a:t>карта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риска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314700"/>
            <a:ext cx="8229600" cy="1143000"/>
          </a:xfrm>
        </p:spPr>
        <p:txBody>
          <a:bodyPr/>
          <a:lstStyle/>
          <a:p>
            <a:pPr marL="0" lvl="0" indent="0">
              <a:buNone/>
            </a:pPr>
            <a:r>
              <a:t>Не смешивайте обязанность, доказательство и последствие нарушения.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Отраслевые особенности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 err="1"/>
              <a:t>Отраслевые</a:t>
            </a:r>
            <a:r>
              <a:rPr dirty="0"/>
              <a:t> </a:t>
            </a:r>
            <a:r>
              <a:rPr dirty="0" err="1"/>
              <a:t>особенности</a:t>
            </a:r>
            <a:r>
              <a:rPr dirty="0"/>
              <a:t> </a:t>
            </a:r>
            <a:r>
              <a:rPr dirty="0" err="1"/>
              <a:t>могут</a:t>
            </a:r>
            <a:r>
              <a:rPr dirty="0"/>
              <a:t> </a:t>
            </a:r>
            <a:r>
              <a:rPr dirty="0" err="1"/>
              <a:t>уточнять</a:t>
            </a:r>
            <a:r>
              <a:rPr dirty="0"/>
              <a:t> </a:t>
            </a:r>
            <a:r>
              <a:rPr dirty="0" err="1"/>
              <a:t>общую</a:t>
            </a:r>
            <a:r>
              <a:rPr dirty="0"/>
              <a:t> </a:t>
            </a:r>
            <a:r>
              <a:rPr dirty="0" err="1"/>
              <a:t>процедуру</a:t>
            </a:r>
            <a:r>
              <a:rPr dirty="0"/>
              <a:t> </a:t>
            </a:r>
            <a:r>
              <a:rPr dirty="0" err="1"/>
              <a:t>категорирования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определённых</a:t>
            </a:r>
            <a:r>
              <a:rPr dirty="0"/>
              <a:t> </a:t>
            </a:r>
            <a:r>
              <a:rPr dirty="0" err="1"/>
              <a:t>сфер</a:t>
            </a:r>
            <a:r>
              <a:rPr dirty="0"/>
              <a:t>.</a:t>
            </a:r>
          </a:p>
          <a:p>
            <a:pPr marL="0" lvl="0" indent="0">
              <a:buNone/>
            </a:pP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каждого</a:t>
            </a:r>
            <a:r>
              <a:rPr dirty="0"/>
              <a:t> </a:t>
            </a:r>
            <a:r>
              <a:rPr dirty="0" err="1"/>
              <a:t>дополнительного</a:t>
            </a:r>
            <a:r>
              <a:rPr dirty="0"/>
              <a:t> </a:t>
            </a:r>
            <a:r>
              <a:rPr dirty="0" err="1"/>
              <a:t>условия</a:t>
            </a:r>
            <a:r>
              <a:rPr dirty="0"/>
              <a:t> </a:t>
            </a:r>
            <a:r>
              <a:rPr dirty="0" err="1"/>
              <a:t>проверяются</a:t>
            </a:r>
            <a:r>
              <a:rPr dirty="0"/>
              <a:t>:</a:t>
            </a:r>
          </a:p>
          <a:p>
            <a:pPr marL="342900" lvl="0" indent="-342900">
              <a:buAutoNum type="arabicPeriod"/>
            </a:pPr>
            <a:r>
              <a:rPr dirty="0" err="1"/>
              <a:t>сфера</a:t>
            </a:r>
            <a:r>
              <a:rPr dirty="0"/>
              <a:t> и </a:t>
            </a:r>
            <a:r>
              <a:rPr dirty="0" err="1"/>
              <a:t>адресат</a:t>
            </a:r>
            <a:r>
              <a:rPr dirty="0"/>
              <a:t> </a:t>
            </a:r>
            <a:r>
              <a:rPr dirty="0" err="1"/>
              <a:t>акта</a:t>
            </a:r>
            <a:r>
              <a:rPr dirty="0"/>
              <a:t>;</a:t>
            </a:r>
          </a:p>
          <a:p>
            <a:pPr marL="342900" lvl="0" indent="-342900">
              <a:buAutoNum type="arabicPeriod"/>
            </a:pPr>
            <a:r>
              <a:rPr dirty="0" err="1"/>
              <a:t>редакция</a:t>
            </a:r>
            <a:r>
              <a:rPr dirty="0"/>
              <a:t> и </a:t>
            </a:r>
            <a:r>
              <a:rPr dirty="0" err="1"/>
              <a:t>дата</a:t>
            </a:r>
            <a:r>
              <a:rPr dirty="0"/>
              <a:t> </a:t>
            </a:r>
            <a:r>
              <a:rPr dirty="0" err="1"/>
              <a:t>действия</a:t>
            </a:r>
            <a:r>
              <a:rPr dirty="0"/>
              <a:t>;</a:t>
            </a:r>
          </a:p>
          <a:p>
            <a:pPr marL="342900" lvl="0" indent="-342900">
              <a:buAutoNum type="arabicPeriod"/>
            </a:pPr>
            <a:r>
              <a:rPr dirty="0" err="1"/>
              <a:t>связь</a:t>
            </a:r>
            <a:r>
              <a:rPr dirty="0"/>
              <a:t> </a:t>
            </a:r>
            <a:r>
              <a:rPr dirty="0" err="1"/>
              <a:t>условия</a:t>
            </a:r>
            <a:r>
              <a:rPr dirty="0"/>
              <a:t> с </a:t>
            </a:r>
            <a:r>
              <a:rPr dirty="0" err="1"/>
              <a:t>границами</a:t>
            </a:r>
            <a:r>
              <a:rPr dirty="0"/>
              <a:t> </a:t>
            </a:r>
            <a:r>
              <a:rPr dirty="0" err="1"/>
              <a:t>объекта</a:t>
            </a:r>
            <a:r>
              <a:rPr dirty="0"/>
              <a:t>;</a:t>
            </a:r>
          </a:p>
          <a:p>
            <a:pPr marL="342900" lvl="0" indent="-342900">
              <a:buAutoNum type="arabicPeriod"/>
            </a:pPr>
            <a:r>
              <a:rPr dirty="0" err="1"/>
              <a:t>владелец</a:t>
            </a:r>
            <a:r>
              <a:rPr dirty="0"/>
              <a:t> </a:t>
            </a:r>
            <a:r>
              <a:rPr dirty="0" err="1"/>
              <a:t>исполнения</a:t>
            </a:r>
            <a:r>
              <a:rPr dirty="0"/>
              <a:t>;</a:t>
            </a:r>
          </a:p>
          <a:p>
            <a:pPr marL="342900" lvl="0" indent="-342900">
              <a:buAutoNum type="arabicPeriod"/>
            </a:pPr>
            <a:r>
              <a:rPr dirty="0" err="1"/>
              <a:t>доказательство</a:t>
            </a:r>
            <a:r>
              <a:rPr dirty="0"/>
              <a:t> </a:t>
            </a:r>
            <a:r>
              <a:rPr dirty="0" err="1"/>
              <a:t>выполнения</a:t>
            </a:r>
            <a:r>
              <a:rPr dirty="0"/>
              <a:t>;</a:t>
            </a:r>
          </a:p>
          <a:p>
            <a:pPr marL="342900" lvl="0" indent="-342900">
              <a:buAutoNum type="arabicPeriod"/>
            </a:pPr>
            <a:r>
              <a:rPr dirty="0" err="1"/>
              <a:t>срок</a:t>
            </a:r>
            <a:r>
              <a:rPr dirty="0"/>
              <a:t> и </a:t>
            </a:r>
            <a:r>
              <a:rPr dirty="0" err="1"/>
              <a:t>триггер</a:t>
            </a:r>
            <a:r>
              <a:rPr dirty="0"/>
              <a:t> </a:t>
            </a:r>
            <a:r>
              <a:rPr dirty="0" err="1"/>
              <a:t>пересмотра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Карта применимости отраслевого условия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787400"/>
          <a:ext cx="8229600" cy="2080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Поле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Что фиксируется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Источник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официальный акт и редакция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Основание применимости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сфера, адресат, объект, дата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Дополнительное условие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что требуется сделать или учесть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Доказательство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документ, запись, расчёт, назначение роли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Ограничение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чего ещё нельзя утверждать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Действие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владелец, срок, пересмотр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746500"/>
            <a:ext cx="8229600" cy="711200"/>
          </a:xfrm>
        </p:spPr>
        <p:txBody>
          <a:bodyPr/>
          <a:lstStyle/>
          <a:p>
            <a:pPr marL="0" lvl="0" indent="0">
              <a:buNone/>
            </a:pPr>
            <a:r>
              <a:t>Карта становится приложением к карточке решения о категорировании.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Контроль как проверка доказательств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Проверка</a:t>
            </a:r>
            <a:r>
              <a:rPr dirty="0"/>
              <a:t> </a:t>
            </a:r>
            <a:r>
              <a:rPr dirty="0" err="1"/>
              <a:t>соответствия</a:t>
            </a:r>
            <a:r>
              <a:rPr dirty="0"/>
              <a:t> </a:t>
            </a:r>
            <a:r>
              <a:rPr dirty="0" err="1"/>
              <a:t>начинается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с </a:t>
            </a:r>
            <a:r>
              <a:rPr dirty="0" err="1"/>
              <a:t>поиска</a:t>
            </a:r>
            <a:r>
              <a:rPr dirty="0"/>
              <a:t> </a:t>
            </a:r>
            <a:r>
              <a:rPr dirty="0" err="1"/>
              <a:t>наказания</a:t>
            </a:r>
            <a:r>
              <a:rPr dirty="0"/>
              <a:t>, а с </a:t>
            </a:r>
            <a:r>
              <a:rPr dirty="0" err="1"/>
              <a:t>вопросов</a:t>
            </a:r>
            <a:r>
              <a:rPr dirty="0"/>
              <a:t>:</a:t>
            </a:r>
          </a:p>
          <a:p>
            <a:pPr lvl="0"/>
            <a:r>
              <a:rPr dirty="0" err="1"/>
              <a:t>какому</a:t>
            </a:r>
            <a:r>
              <a:rPr dirty="0"/>
              <a:t> </a:t>
            </a:r>
            <a:r>
              <a:rPr dirty="0" err="1"/>
              <a:t>требованию</a:t>
            </a:r>
            <a:r>
              <a:rPr dirty="0"/>
              <a:t> </a:t>
            </a:r>
            <a:r>
              <a:rPr dirty="0" err="1"/>
              <a:t>соответствует</a:t>
            </a:r>
            <a:r>
              <a:rPr dirty="0"/>
              <a:t> </a:t>
            </a:r>
            <a:r>
              <a:rPr dirty="0" err="1"/>
              <a:t>действие</a:t>
            </a:r>
            <a:r>
              <a:rPr dirty="0"/>
              <a:t>;</a:t>
            </a:r>
          </a:p>
          <a:p>
            <a:pPr lvl="0"/>
            <a:r>
              <a:rPr dirty="0" err="1"/>
              <a:t>какой</a:t>
            </a:r>
            <a:r>
              <a:rPr dirty="0"/>
              <a:t> </a:t>
            </a:r>
            <a:r>
              <a:rPr dirty="0" err="1"/>
              <a:t>документ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запись</a:t>
            </a:r>
            <a:r>
              <a:rPr dirty="0"/>
              <a:t> </a:t>
            </a:r>
            <a:r>
              <a:rPr dirty="0" err="1"/>
              <a:t>доказывает</a:t>
            </a:r>
            <a:r>
              <a:rPr dirty="0"/>
              <a:t> </a:t>
            </a:r>
            <a:r>
              <a:rPr dirty="0" err="1"/>
              <a:t>выполнение</a:t>
            </a:r>
            <a:r>
              <a:rPr dirty="0"/>
              <a:t>;</a:t>
            </a:r>
          </a:p>
          <a:p>
            <a:pPr lvl="0"/>
            <a:r>
              <a:rPr dirty="0" err="1"/>
              <a:t>где</a:t>
            </a:r>
            <a:r>
              <a:rPr dirty="0"/>
              <a:t> </a:t>
            </a:r>
            <a:r>
              <a:rPr dirty="0" err="1"/>
              <a:t>хранится</a:t>
            </a:r>
            <a:r>
              <a:rPr dirty="0"/>
              <a:t> </a:t>
            </a:r>
            <a:r>
              <a:rPr dirty="0" err="1"/>
              <a:t>доказательство</a:t>
            </a:r>
            <a:r>
              <a:rPr dirty="0"/>
              <a:t> и </a:t>
            </a:r>
            <a:r>
              <a:rPr dirty="0" err="1"/>
              <a:t>кто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него</a:t>
            </a:r>
            <a:r>
              <a:rPr dirty="0"/>
              <a:t> </a:t>
            </a:r>
            <a:r>
              <a:rPr dirty="0" err="1"/>
              <a:t>отвечает</a:t>
            </a:r>
            <a:r>
              <a:rPr dirty="0"/>
              <a:t>;</a:t>
            </a:r>
          </a:p>
          <a:p>
            <a:pPr lvl="0"/>
            <a:r>
              <a:rPr dirty="0" err="1"/>
              <a:t>насколько</a:t>
            </a:r>
            <a:r>
              <a:rPr dirty="0"/>
              <a:t> </a:t>
            </a:r>
            <a:r>
              <a:rPr dirty="0" err="1"/>
              <a:t>оно</a:t>
            </a:r>
            <a:r>
              <a:rPr dirty="0"/>
              <a:t> </a:t>
            </a:r>
            <a:r>
              <a:rPr dirty="0" err="1"/>
              <a:t>актуально</a:t>
            </a:r>
            <a:r>
              <a:rPr dirty="0"/>
              <a:t> и </a:t>
            </a:r>
            <a:r>
              <a:rPr dirty="0" err="1"/>
              <a:t>применимо</a:t>
            </a:r>
            <a:r>
              <a:rPr dirty="0"/>
              <a:t> к </a:t>
            </a:r>
            <a:r>
              <a:rPr dirty="0" err="1"/>
              <a:t>объекту</a:t>
            </a:r>
            <a:r>
              <a:rPr dirty="0"/>
              <a:t>;</a:t>
            </a:r>
          </a:p>
          <a:p>
            <a:pPr lvl="0"/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делать</a:t>
            </a:r>
            <a:r>
              <a:rPr dirty="0"/>
              <a:t>, </a:t>
            </a:r>
            <a:r>
              <a:rPr dirty="0" err="1"/>
              <a:t>если</a:t>
            </a:r>
            <a:r>
              <a:rPr dirty="0"/>
              <a:t> </a:t>
            </a:r>
            <a:r>
              <a:rPr dirty="0" err="1"/>
              <a:t>доказательство</a:t>
            </a:r>
            <a:r>
              <a:rPr dirty="0"/>
              <a:t> </a:t>
            </a:r>
            <a:r>
              <a:rPr dirty="0" err="1"/>
              <a:t>отсутствует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противоречиво</a:t>
            </a:r>
            <a:r>
              <a:rPr dirty="0"/>
              <a:t>.</a:t>
            </a:r>
          </a:p>
          <a:p>
            <a:pPr marL="0" lv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Реестр соответствия и пробелов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787400"/>
          <a:ext cx="82296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Требование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Применимость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Доказательство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Статус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Пробел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Действие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Нормативное или внутреннее условие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почему относится к объекту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источник и владелец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подтверждено / частично / не подтверждено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чего не хватает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кто и к какому сроку исправляет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692400"/>
            <a:ext cx="8229600" cy="1778000"/>
          </a:xfrm>
        </p:spPr>
        <p:txBody>
          <a:bodyPr/>
          <a:lstStyle/>
          <a:p>
            <a:pPr marL="0" lvl="0" indent="0">
              <a:buNone/>
            </a:pPr>
            <a:r>
              <a:rPr dirty="0" err="1"/>
              <a:t>Реестр</a:t>
            </a:r>
            <a:r>
              <a:rPr dirty="0"/>
              <a:t> </a:t>
            </a:r>
            <a:r>
              <a:rPr dirty="0" err="1"/>
              <a:t>поддерживает</a:t>
            </a:r>
            <a:r>
              <a:rPr dirty="0"/>
              <a:t> </a:t>
            </a:r>
            <a:r>
              <a:rPr dirty="0" err="1"/>
              <a:t>управляемое</a:t>
            </a:r>
            <a:r>
              <a:rPr dirty="0"/>
              <a:t> </a:t>
            </a:r>
            <a:r>
              <a:rPr dirty="0" err="1"/>
              <a:t>устранение</a:t>
            </a:r>
            <a:r>
              <a:rPr dirty="0"/>
              <a:t> </a:t>
            </a:r>
            <a:r>
              <a:rPr dirty="0" err="1"/>
              <a:t>пробелов</a:t>
            </a:r>
            <a:r>
              <a:rPr lang="ru-RU" dirty="0"/>
              <a:t> (это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деклараци</a:t>
            </a:r>
            <a:r>
              <a:rPr lang="ru-RU" dirty="0"/>
              <a:t>я</a:t>
            </a:r>
            <a:r>
              <a:rPr dirty="0"/>
              <a:t> </a:t>
            </a:r>
            <a:r>
              <a:rPr dirty="0" err="1"/>
              <a:t>соответствия</a:t>
            </a:r>
            <a:r>
              <a:rPr lang="ru-RU" dirty="0"/>
              <a:t>)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Риск и юридическая оценка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Факт</a:t>
            </a:r>
            <a:r>
              <a:rPr dirty="0"/>
              <a:t> </a:t>
            </a:r>
            <a:r>
              <a:rPr dirty="0" err="1"/>
              <a:t>несоответствия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равен</a:t>
            </a:r>
            <a:r>
              <a:rPr dirty="0"/>
              <a:t> </a:t>
            </a:r>
            <a:r>
              <a:rPr dirty="0" err="1"/>
              <a:t>автоматически</a:t>
            </a:r>
            <a:r>
              <a:rPr dirty="0"/>
              <a:t> </a:t>
            </a:r>
            <a:r>
              <a:rPr dirty="0" err="1"/>
              <a:t>административному</a:t>
            </a:r>
            <a:r>
              <a:rPr dirty="0"/>
              <a:t> </a:t>
            </a:r>
            <a:r>
              <a:rPr dirty="0" err="1"/>
              <a:t>составу</a:t>
            </a:r>
            <a:r>
              <a:rPr dirty="0"/>
              <a:t>.</a:t>
            </a:r>
          </a:p>
          <a:p>
            <a:pPr marL="0" lvl="0" indent="0">
              <a:buNone/>
            </a:pPr>
            <a:r>
              <a:rPr dirty="0" err="1"/>
              <a:t>Чтобы</a:t>
            </a:r>
            <a:r>
              <a:rPr dirty="0"/>
              <a:t> </a:t>
            </a:r>
            <a:r>
              <a:rPr dirty="0" err="1"/>
              <a:t>оценивать</a:t>
            </a:r>
            <a:r>
              <a:rPr dirty="0"/>
              <a:t> </a:t>
            </a:r>
            <a:r>
              <a:rPr dirty="0" err="1"/>
              <a:t>правовой</a:t>
            </a:r>
            <a:r>
              <a:rPr dirty="0"/>
              <a:t> </a:t>
            </a:r>
            <a:r>
              <a:rPr dirty="0" err="1"/>
              <a:t>риск</a:t>
            </a:r>
            <a:r>
              <a:rPr dirty="0"/>
              <a:t>, </a:t>
            </a:r>
            <a:r>
              <a:rPr dirty="0" err="1"/>
              <a:t>необходимо</a:t>
            </a:r>
            <a:r>
              <a:rPr dirty="0"/>
              <a:t> </a:t>
            </a:r>
            <a:r>
              <a:rPr dirty="0" err="1"/>
              <a:t>отдельно</a:t>
            </a:r>
            <a:r>
              <a:rPr dirty="0"/>
              <a:t> </a:t>
            </a:r>
            <a:r>
              <a:rPr dirty="0" err="1"/>
              <a:t>установить</a:t>
            </a:r>
            <a:r>
              <a:rPr dirty="0"/>
              <a:t>:</a:t>
            </a:r>
          </a:p>
          <a:p>
            <a:pPr lvl="0"/>
            <a:r>
              <a:rPr dirty="0" err="1"/>
              <a:t>применимую</a:t>
            </a:r>
            <a:r>
              <a:rPr dirty="0"/>
              <a:t> </a:t>
            </a:r>
            <a:r>
              <a:rPr dirty="0" err="1"/>
              <a:t>норму</a:t>
            </a:r>
            <a:r>
              <a:rPr dirty="0"/>
              <a:t> и </a:t>
            </a:r>
            <a:r>
              <a:rPr dirty="0" err="1"/>
              <a:t>её</a:t>
            </a:r>
            <a:r>
              <a:rPr dirty="0"/>
              <a:t> </a:t>
            </a:r>
            <a:r>
              <a:rPr dirty="0" err="1"/>
              <a:t>редакцию</a:t>
            </a:r>
            <a:r>
              <a:rPr dirty="0"/>
              <a:t>;</a:t>
            </a:r>
          </a:p>
          <a:p>
            <a:pPr lvl="0"/>
            <a:r>
              <a:rPr dirty="0" err="1"/>
              <a:t>адресата</a:t>
            </a:r>
            <a:r>
              <a:rPr dirty="0"/>
              <a:t> </a:t>
            </a:r>
            <a:r>
              <a:rPr dirty="0" err="1"/>
              <a:t>обязанности</a:t>
            </a:r>
            <a:r>
              <a:rPr dirty="0"/>
              <a:t>;</a:t>
            </a:r>
          </a:p>
          <a:p>
            <a:pPr lvl="0"/>
            <a:r>
              <a:rPr dirty="0" err="1"/>
              <a:t>подтверждённое</a:t>
            </a:r>
            <a:r>
              <a:rPr dirty="0"/>
              <a:t> </a:t>
            </a:r>
            <a:r>
              <a:rPr dirty="0" err="1"/>
              <a:t>действие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бездействие</a:t>
            </a:r>
            <a:r>
              <a:rPr dirty="0"/>
              <a:t>;</a:t>
            </a:r>
          </a:p>
          <a:p>
            <a:pPr lvl="0"/>
            <a:r>
              <a:rPr dirty="0" err="1"/>
              <a:t>условия</a:t>
            </a:r>
            <a:r>
              <a:rPr dirty="0"/>
              <a:t> </a:t>
            </a:r>
            <a:r>
              <a:rPr dirty="0" err="1"/>
              <a:t>ответственности</a:t>
            </a:r>
            <a:r>
              <a:rPr dirty="0"/>
              <a:t> и </a:t>
            </a:r>
            <a:r>
              <a:rPr dirty="0" err="1"/>
              <a:t>возможные</a:t>
            </a:r>
            <a:r>
              <a:rPr dirty="0"/>
              <a:t> </a:t>
            </a:r>
            <a:r>
              <a:rPr dirty="0" err="1"/>
              <a:t>исключения</a:t>
            </a:r>
            <a:r>
              <a:rPr dirty="0"/>
              <a:t>;</a:t>
            </a:r>
          </a:p>
          <a:p>
            <a:pPr lvl="0"/>
            <a:r>
              <a:rPr dirty="0" err="1"/>
              <a:t>доказательства</a:t>
            </a:r>
            <a:r>
              <a:rPr dirty="0"/>
              <a:t> и </a:t>
            </a:r>
            <a:r>
              <a:rPr dirty="0" err="1"/>
              <a:t>компетен</a:t>
            </a:r>
            <a:r>
              <a:rPr lang="ru-RU" dirty="0" err="1"/>
              <a:t>ции</a:t>
            </a:r>
            <a:r>
              <a:rPr dirty="0"/>
              <a:t> </a:t>
            </a:r>
            <a:r>
              <a:rPr dirty="0" err="1"/>
              <a:t>оценщика</a:t>
            </a:r>
            <a:r>
              <a:rPr dirty="0"/>
              <a:t>.</a:t>
            </a:r>
          </a:p>
          <a:p>
            <a:pPr marL="0" lv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Роли и договоры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Договоры, регламенты и должностные обязанности полезны для распределения работ, доступа и доказательств.</a:t>
            </a:r>
          </a:p>
          <a:p>
            <a:pPr marL="0" lvl="0" indent="0">
              <a:buNone/>
            </a:pPr>
            <a:r>
              <a:t>Но они не заменяют правовую квалификацию и не создают автоматически статус субъекта КИИ или ответственность третьего лица.</a:t>
            </a:r>
          </a:p>
          <a:p>
            <a:pPr marL="0" lvl="0" indent="0">
              <a:buNone/>
            </a:pPr>
            <a:r>
              <a:t>В карточке и реестре фиксируют владельца действия, границы ответственности и требуемые подтверждения факта.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Практика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ПЗ-3 </a:t>
            </a:r>
            <a:r>
              <a:rPr dirty="0" err="1"/>
              <a:t>формирует</a:t>
            </a:r>
            <a:r>
              <a:rPr dirty="0"/>
              <a:t> </a:t>
            </a:r>
            <a:r>
              <a:rPr dirty="0" err="1"/>
              <a:t>третий</a:t>
            </a:r>
            <a:r>
              <a:rPr dirty="0"/>
              <a:t> </a:t>
            </a:r>
            <a:r>
              <a:rPr dirty="0" err="1"/>
              <a:t>артефакт</a:t>
            </a:r>
            <a:r>
              <a:rPr dirty="0"/>
              <a:t> </a:t>
            </a:r>
            <a:r>
              <a:rPr dirty="0" err="1"/>
              <a:t>досье</a:t>
            </a:r>
            <a:r>
              <a:rPr dirty="0"/>
              <a:t> — </a:t>
            </a:r>
            <a:r>
              <a:rPr dirty="0" err="1"/>
              <a:t>реестр</a:t>
            </a:r>
            <a:r>
              <a:rPr dirty="0"/>
              <a:t> </a:t>
            </a:r>
            <a:r>
              <a:rPr dirty="0" err="1"/>
              <a:t>соответствия</a:t>
            </a:r>
            <a:r>
              <a:rPr dirty="0"/>
              <a:t> и </a:t>
            </a:r>
            <a:r>
              <a:rPr dirty="0" err="1"/>
              <a:t>пробелов</a:t>
            </a:r>
            <a:r>
              <a:rPr dirty="0"/>
              <a:t>.</a:t>
            </a:r>
          </a:p>
          <a:p>
            <a:pPr marL="0" lvl="0" indent="0">
              <a:buNone/>
            </a:pPr>
            <a:r>
              <a:rPr dirty="0" err="1"/>
              <a:t>Связывае</a:t>
            </a:r>
            <a:r>
              <a:rPr lang="ru-RU" dirty="0"/>
              <a:t>м</a:t>
            </a:r>
            <a:r>
              <a:rPr dirty="0"/>
              <a:t>:</a:t>
            </a:r>
          </a:p>
          <a:p>
            <a:pPr lvl="0"/>
            <a:r>
              <a:rPr dirty="0" err="1"/>
              <a:t>паспорт</a:t>
            </a:r>
            <a:r>
              <a:rPr dirty="0"/>
              <a:t> </a:t>
            </a:r>
            <a:r>
              <a:rPr dirty="0" err="1"/>
              <a:t>применимости</a:t>
            </a:r>
            <a:r>
              <a:rPr dirty="0"/>
              <a:t>;</a:t>
            </a:r>
          </a:p>
          <a:p>
            <a:pPr lvl="0"/>
            <a:r>
              <a:rPr dirty="0" err="1"/>
              <a:t>карточку</a:t>
            </a:r>
            <a:r>
              <a:rPr dirty="0"/>
              <a:t> </a:t>
            </a:r>
            <a:r>
              <a:rPr dirty="0" err="1"/>
              <a:t>категорирования</a:t>
            </a:r>
            <a:r>
              <a:rPr dirty="0"/>
              <a:t>;</a:t>
            </a:r>
          </a:p>
          <a:p>
            <a:pPr lvl="0"/>
            <a:r>
              <a:rPr dirty="0" err="1"/>
              <a:t>отраслевые</a:t>
            </a:r>
            <a:r>
              <a:rPr dirty="0"/>
              <a:t> </a:t>
            </a:r>
            <a:r>
              <a:rPr dirty="0" err="1"/>
              <a:t>условия</a:t>
            </a:r>
            <a:r>
              <a:rPr dirty="0"/>
              <a:t>, </a:t>
            </a:r>
            <a:r>
              <a:rPr dirty="0" err="1"/>
              <a:t>если</a:t>
            </a:r>
            <a:r>
              <a:rPr dirty="0"/>
              <a:t> </a:t>
            </a:r>
            <a:r>
              <a:rPr dirty="0" err="1"/>
              <a:t>подтверждена</a:t>
            </a:r>
            <a:r>
              <a:rPr dirty="0"/>
              <a:t> </a:t>
            </a:r>
            <a:r>
              <a:rPr dirty="0" err="1"/>
              <a:t>их</a:t>
            </a:r>
            <a:r>
              <a:rPr dirty="0"/>
              <a:t> </a:t>
            </a:r>
            <a:r>
              <a:rPr dirty="0" err="1"/>
              <a:t>применимость</a:t>
            </a:r>
            <a:r>
              <a:rPr dirty="0"/>
              <a:t>;</a:t>
            </a:r>
          </a:p>
          <a:p>
            <a:pPr lvl="0"/>
            <a:r>
              <a:rPr dirty="0" err="1"/>
              <a:t>доказательства</a:t>
            </a:r>
            <a:r>
              <a:rPr dirty="0"/>
              <a:t> и </a:t>
            </a:r>
            <a:r>
              <a:rPr dirty="0" err="1"/>
              <a:t>незакрытые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ru-RU" dirty="0"/>
              <a:t>Вопросы самопроверки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lang="ru-RU" dirty="0"/>
              <a:t>1. Почему нельзя применять отраслевое условие только на основании названия компании или системы?</a:t>
            </a:r>
          </a:p>
          <a:p>
            <a:pPr marL="0" lvl="0" indent="0">
              <a:buNone/>
            </a:pPr>
            <a:endParaRPr lang="ru-RU" dirty="0"/>
          </a:p>
          <a:p>
            <a:pPr marL="0" lvl="0" indent="0">
              <a:buNone/>
            </a:pPr>
            <a:r>
              <a:rPr lang="ru-RU" dirty="0"/>
              <a:t>2. Перечислите поля карты применимости отраслевого условия. Какое поле не позволяет подменить анализ предположением?</a:t>
            </a:r>
          </a:p>
          <a:p>
            <a:pPr marL="0" lvl="0" indent="0">
              <a:buNone/>
            </a:pPr>
            <a:endParaRPr lang="ru-RU" dirty="0"/>
          </a:p>
          <a:p>
            <a:pPr marL="0" lvl="0" indent="0">
              <a:buNone/>
            </a:pPr>
            <a:r>
              <a:rPr lang="ru-RU" dirty="0"/>
              <a:t>3. Чем внутренняя проверка доказательств отличается от государственного контроля?</a:t>
            </a:r>
          </a:p>
          <a:p>
            <a:pPr marL="0" lvl="0" indent="0">
              <a:buNone/>
            </a:pPr>
            <a:endParaRPr lang="ru-RU" dirty="0"/>
          </a:p>
          <a:p>
            <a:pPr marL="0" lvl="0" indent="0">
              <a:buNone/>
            </a:pPr>
            <a:r>
              <a:rPr lang="ru-RU" dirty="0"/>
              <a:t>4. Почему отсутствие одного документа ещё не доказывает нарушение, но требует управленческого действия?</a:t>
            </a:r>
          </a:p>
          <a:p>
            <a:pPr marL="0" lvl="0" indent="0">
              <a:buNone/>
            </a:pPr>
            <a:endParaRPr lang="ru-RU" dirty="0"/>
          </a:p>
          <a:p>
            <a:pPr marL="0" lvl="0" indent="0">
              <a:buNone/>
            </a:pPr>
            <a:r>
              <a:rPr lang="ru-RU" dirty="0"/>
              <a:t>5. Чем реестр соответствия и пробелов отличается от декларации соответствия?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6681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516</Words>
  <Application>Microsoft Office PowerPoint</Application>
  <PresentationFormat>Экран (16:9)</PresentationFormat>
  <Paragraphs>97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Лекция 4. Отраслевые условия, контроль и доказательства соответствия</vt:lpstr>
      <vt:lpstr>Вопрос лекции</vt:lpstr>
      <vt:lpstr>Три разных контура</vt:lpstr>
      <vt:lpstr>Отраслевые особенности</vt:lpstr>
      <vt:lpstr>Карта применимости отраслевого условия</vt:lpstr>
      <vt:lpstr>Контроль как проверка доказательств</vt:lpstr>
      <vt:lpstr>Реестр соответствия и пробелов</vt:lpstr>
      <vt:lpstr>Риск и юридическая оценка</vt:lpstr>
      <vt:lpstr>Роли и договоры</vt:lpstr>
      <vt:lpstr>Практика</vt:lpstr>
      <vt:lpstr>Вопросы самопроверки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Office PowerPoint</Application>
  <PresentationFormat>Экран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Лекция 4. Отраслевые условия, контроль и доказательства соответствия</dc:title>
  <dc:creator/>
  <cp:keywords/>
  <cp:lastModifiedBy>RAA</cp:lastModifiedBy>
  <cp:revision>3</cp:revision>
  <dcterms:created xsi:type="dcterms:W3CDTF">2026-10-06T13:00:36Z</dcterms:created>
  <dcterms:modified xsi:type="dcterms:W3CDTF">2026-10-27T14:54:57Z</dcterms:modified>
</cp:coreProperties>
</file>