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08" d="100"/>
          <a:sy n="108" d="100"/>
        </p:scale>
        <p:origin x="720" y="4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BF32EBF7-C8A6-42CD-90E8-59FCA44C53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160158" y="-16565"/>
            <a:ext cx="1840921" cy="1860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469EBB0B-36EA-4B29-9BBE-DAD46164C2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246296" y="75480"/>
            <a:ext cx="1787912" cy="180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FCC64FF2-3323-4E69-826A-7400014FD5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2220282" y="524552"/>
            <a:ext cx="4332918" cy="437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33733" cy="45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95130"/>
            <a:ext cx="8229600" cy="3799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1" descr="/mnt/data/asset_icons/image3.png">
            <a:extLst>
              <a:ext uri="{FF2B5EF4-FFF2-40B4-BE49-F238E27FC236}">
                <a16:creationId xmlns:a16="http://schemas.microsoft.com/office/drawing/2014/main" id="{07B1F67F-77AB-4D11-A16B-35A1040E62A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90933" y="138406"/>
            <a:ext cx="1102360" cy="45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asskazov/IFTIS-KII-2026/blob/main/Lec_1/L1_questionnarie.md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st.gov.ru/" TargetMode="External"/><Relationship Id="rId3" Type="http://schemas.openxmlformats.org/officeDocument/2006/relationships/hyperlink" Target="http://publication.pravo.gov.ru/Document/View/0001201506300012" TargetMode="External"/><Relationship Id="rId7" Type="http://schemas.openxmlformats.org/officeDocument/2006/relationships/hyperlink" Target="http://publication.pravo.gov.ru/" TargetMode="External"/><Relationship Id="rId2" Type="http://schemas.openxmlformats.org/officeDocument/2006/relationships/hyperlink" Target="http://publication.pravo.gov.ru/Document/View/000120021230002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ublication.pravo.gov.ru/Document/View/0001201707260023" TargetMode="External"/><Relationship Id="rId5" Type="http://schemas.openxmlformats.org/officeDocument/2006/relationships/hyperlink" Target="http://publication.pravo.gov.ru/Document/View/0001200806270001" TargetMode="External"/><Relationship Id="rId4" Type="http://schemas.openxmlformats.org/officeDocument/2006/relationships/hyperlink" Target="http://publication.pravo.gov.ru/Document/View/0001201312280035" TargetMode="External"/><Relationship Id="rId9" Type="http://schemas.openxmlformats.org/officeDocument/2006/relationships/hyperlink" Target="https://fsa.gov.r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Лекция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b="1"/>
              <a:t>Нормативно-правовое обеспечение критической информационной инфраструктуры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Техническое регулирование: как читать требования и подтверждать решения</a:t>
            </a:r>
          </a:p>
          <a:p>
            <a:pPr marL="0" lvl="0" indent="0">
              <a:buNone/>
            </a:pPr>
            <a:r>
              <a:t>(Лекции 32 часа, практ занятия 32 часа)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Цели лекции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После лекции вы сможете</a:t>
            </a:r>
          </a:p>
          <a:p>
            <a:pPr marL="342900" lvl="0" indent="-342900">
              <a:buAutoNum type="arabicPeriod"/>
            </a:pPr>
            <a:r>
              <a:t>Назвать виды источников требований и объяснить, чем они различаются по обязательности.</a:t>
            </a:r>
          </a:p>
          <a:p>
            <a:pPr marL="342900" lvl="0" indent="-342900">
              <a:buAutoNum type="arabicPeriod"/>
            </a:pPr>
            <a:r>
              <a:t>Отличить технический регламент, национальный стандарт и ПНСТ.</a:t>
            </a:r>
          </a:p>
          <a:p>
            <a:pPr marL="342900" lvl="0" indent="-342900">
              <a:buAutoNum type="arabicPeriod"/>
            </a:pPr>
            <a:r>
              <a:t>Различить обязательное подтверждение соответствия, добровольную сертификацию и специальные требования к объектам КИИ.</a:t>
            </a:r>
          </a:p>
          <a:p>
            <a:pPr marL="342900" lvl="0" indent="-342900">
              <a:buAutoNum type="arabicPeriod"/>
            </a:pPr>
            <a:r>
              <a:t>Прочитать сертификат или протокол испытаний и определить, что он подтверждает.</a:t>
            </a:r>
          </a:p>
          <a:p>
            <a:pPr marL="342900" lvl="0" indent="-342900">
              <a:buAutoNum type="arabicPeriod"/>
            </a:pPr>
            <a:r>
              <a:t>Оформить решение в виде карточки: основание, применимость, доказательство, ограничение, пересмотр.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Вопрос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«Продукт сертифицирован»</a:t>
            </a:r>
          </a:p>
          <a:p>
            <a:pPr marL="0" lvl="0" indent="0">
              <a:buNone/>
            </a:pPr>
            <a:r>
              <a:t>Что, по-вашему, означает эта фраза?</a:t>
            </a:r>
          </a:p>
          <a:p>
            <a:pPr lvl="0"/>
            <a:r>
              <a:t>Запишите 2–3 ответа.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Центральный вопрос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Что требуется доказать?</a:t>
            </a:r>
          </a:p>
          <a:p>
            <a:pPr marL="0" lvl="0" indent="0">
              <a:buNone/>
            </a:pPr>
            <a:r>
              <a:t>Не достаточно назвать закон, стандарт или сертификат.</a:t>
            </a:r>
          </a:p>
          <a:p>
            <a:pPr marL="0" lvl="0" indent="0">
              <a:buNone/>
            </a:pPr>
            <a:r>
              <a:t>Для каждого решения специалист отвечает:</a:t>
            </a:r>
          </a:p>
          <a:p>
            <a:pPr lvl="0"/>
            <a:r>
              <a:t>какая норма или условие применяется;</a:t>
            </a:r>
          </a:p>
          <a:p>
            <a:pPr lvl="0"/>
            <a:r>
              <a:t>к какому объекту и в каких границах;</a:t>
            </a:r>
          </a:p>
          <a:p>
            <a:pPr lvl="0"/>
            <a:r>
              <a:t>что именно организация обязана или решила сделать;</a:t>
            </a:r>
          </a:p>
          <a:p>
            <a:pPr lvl="0"/>
            <a:r>
              <a:t>чем подтверждается выполнение;</a:t>
            </a:r>
          </a:p>
          <a:p>
            <a:pPr lvl="0"/>
            <a:r>
              <a:t>когда вывод нужно пересмотреть.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Карта источников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1988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Источник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Роль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Федеральный закон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устанавливает правовую рамку и полномочия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Подзаконный нормативный акт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конкретизирует порядок и требования в пределах компетенции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Документ по стандартизации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описывает согласованные подходы и характеристики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Договор, закупка, локальный акт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задаёт обязательства конкретной организации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Сертификат, протокол, журнал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служит доказательством в своей области действия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Лестница актов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Иерархия юридической силы</a:t>
            </a:r>
          </a:p>
          <a:p>
            <a:pPr marL="342900" lvl="0" indent="-342900">
              <a:buAutoNum type="arabicPeriod"/>
            </a:pPr>
            <a:r>
              <a:t>Конституция РФ</a:t>
            </a:r>
          </a:p>
          <a:p>
            <a:pPr marL="342900" lvl="0" indent="-342900">
              <a:buAutoNum type="arabicPeriod"/>
            </a:pPr>
            <a:r>
              <a:t>Международные договоры</a:t>
            </a:r>
          </a:p>
          <a:p>
            <a:pPr marL="342900" lvl="0" indent="-342900">
              <a:buAutoNum type="arabicPeriod"/>
            </a:pPr>
            <a:r>
              <a:t>Федеральные конституционные законы и федеральные законы</a:t>
            </a:r>
          </a:p>
          <a:p>
            <a:pPr marL="342900" lvl="0" indent="-342900">
              <a:buAutoNum type="arabicPeriod"/>
            </a:pPr>
            <a:r>
              <a:t>Указы Президента РФ</a:t>
            </a:r>
          </a:p>
          <a:p>
            <a:pPr marL="342900" lvl="0" indent="-342900">
              <a:buAutoNum type="arabicPeriod"/>
            </a:pPr>
            <a:r>
              <a:t>Постановления Правительства РФ</a:t>
            </a:r>
          </a:p>
          <a:p>
            <a:pPr marL="342900" lvl="0" indent="-342900">
              <a:buAutoNum type="arabicPeriod"/>
            </a:pPr>
            <a:r>
              <a:t>Акты федеральных органов исполнительной власти</a:t>
            </a:r>
          </a:p>
          <a:p>
            <a:pPr marL="342900" lvl="0" indent="-342900">
              <a:buAutoNum type="arabicPeriod"/>
            </a:pPr>
            <a:r>
              <a:t>Договоры и локальные документы (обязательны для участников, но не НПА)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Вопрос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Лестница актов: пример на каждый уровень</a:t>
            </a:r>
          </a:p>
          <a:p>
            <a:pPr lvl="0"/>
            <a:r>
              <a:t>Назовите по одному примеру документа для каждого уровня лестницы.</a:t>
            </a:r>
          </a:p>
          <a:p>
            <a:pPr lvl="0"/>
            <a:r>
              <a:t>Назовите документ, который в лестницу не входит.</a:t>
            </a:r>
          </a:p>
          <a:p>
            <a:pPr lvl="0"/>
            <a:r>
              <a:t>Проверьте: не попали ли стандарты и методические рекомендации на один уровень с приказами?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Три коллизии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Где иерархия «не срабатывает»</a:t>
            </a:r>
          </a:p>
          <a:p>
            <a:pPr lvl="0"/>
            <a:r>
              <a:t>Общее и специальное: общие положения о стандартизации не отменяют специальные требования к значимым объектам КИИ.</a:t>
            </a:r>
          </a:p>
          <a:p>
            <a:pPr lvl="0"/>
            <a:r>
              <a:t>Разные редакции во времени: фиксируем редакцию и дату.</a:t>
            </a:r>
          </a:p>
          <a:p>
            <a:pPr lvl="0"/>
            <a:r>
              <a:t>Формально не противоречит, но не применим: акт для других адресатов или предмета нельзя применять «по аналогии».</a:t>
            </a:r>
          </a:p>
          <a:p>
            <a:pPr marL="0" lvl="0" indent="0">
              <a:buNone/>
            </a:pPr>
            <a:r>
              <a:t>Два вопроса: не противоречит ли акту большей силы? применим ли к объекту и ситуации?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Пять проверок применимости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Для любого документа</a:t>
            </a:r>
          </a:p>
          <a:p>
            <a:pPr marL="342900" lvl="0" indent="-342900">
              <a:buAutoNum type="arabicPeriod"/>
            </a:pPr>
            <a:r>
              <a:t>Кто адресат?</a:t>
            </a:r>
          </a:p>
          <a:p>
            <a:pPr marL="342900" lvl="0" indent="-342900">
              <a:buAutoNum type="arabicPeriod"/>
            </a:pPr>
            <a:r>
              <a:t>Какой предмет?</a:t>
            </a:r>
          </a:p>
          <a:p>
            <a:pPr marL="342900" lvl="0" indent="-342900">
              <a:buAutoNum type="arabicPeriod"/>
            </a:pPr>
            <a:r>
              <a:t>Какая редакция и дата?</a:t>
            </a:r>
          </a:p>
          <a:p>
            <a:pPr marL="342900" lvl="0" indent="-342900">
              <a:buAutoNum type="arabicPeriod"/>
            </a:pPr>
            <a:r>
              <a:t>Какова сфера и условие (исключения, переходные положения)?</a:t>
            </a:r>
          </a:p>
          <a:p>
            <a:pPr marL="342900" lvl="0" indent="-342900">
              <a:buAutoNum type="arabicPeriod"/>
            </a:pPr>
            <a:r>
              <a:t>Какова связь с договором — не расширяет ли он обязательность?</a:t>
            </a:r>
          </a:p>
          <a:p>
            <a:pPr marL="0" lvl="0" indent="0">
              <a:buNone/>
            </a:pPr>
            <a:r>
              <a:t>Ошибиться можно в обе стороны: недооценить требование или применить его к объекту, который не является значимым объектом КИИ.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Глоссарий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7400"/>
            <a:ext cx="8229600" cy="635000"/>
          </a:xfrm>
        </p:spPr>
        <p:txBody>
          <a:bodyPr/>
          <a:lstStyle/>
          <a:p>
            <a:pPr marL="0" lvl="0" indent="0">
              <a:buNone/>
            </a:pPr>
            <a:r>
              <a:rPr b="1"/>
              <a:t>Регулирование и стандартизация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549400"/>
          <a:ext cx="8229600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Понятие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Смысл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Технический регламент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обязательные требования в сфере, предусмотренной законом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Документ по стандартизации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в общем случае добровольное многократное использование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Национальный стандарт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утверждён национальным органом по стандартизации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ПНСТ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документ для апробации, срок — не более трёх лет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Стандарт организации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утверждает организация для своих нужд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3822700"/>
            <a:ext cx="8229600" cy="635000"/>
          </a:xfrm>
        </p:spPr>
        <p:txBody>
          <a:bodyPr/>
          <a:lstStyle/>
          <a:p>
            <a:pPr marL="0" lvl="0" indent="0">
              <a:buNone/>
            </a:pPr>
            <a:r>
              <a:t>Формулировки учебные; точные определения — в тексте закона.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Глоссарий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7400"/>
            <a:ext cx="8229600" cy="711200"/>
          </a:xfrm>
        </p:spPr>
        <p:txBody>
          <a:bodyPr/>
          <a:lstStyle/>
          <a:p>
            <a:pPr marL="0" lvl="0" indent="0">
              <a:buNone/>
            </a:pPr>
            <a:r>
              <a:rPr b="1"/>
              <a:t>Оценка соответствия и доказательства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Понятие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Смысл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Подтверждение соответствия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документальное удостоверение соответствия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Декларирование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заявитель сам принимает декларацию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Обязательная сертификация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 участием органа по сертификации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Аккредитация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подтверждение компетентности в области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Испытание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определение характеристик по методике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Доказательство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документированный факт, на который опирается вывод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Регламент, стандарт, ПНСТ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Признак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Регламент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Нац. стандарт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ПНСТ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Назначение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обязательные требования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согласованные характеристики, правила, методы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апробация до утверждения стандарта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Обязательность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в сфере, заданной законом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в общем случае добровольный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в общем случае добровольный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Срок действия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 акту и законодательству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как правило бессрочный, может быть отменён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не более трёх лет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Кто утверждает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 законодательству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нац. орган по стандартизации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нац. орган по стандартизации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Что проверить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сферу, объекты, переходные положения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редакцию, раздел, статус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дату введения, срок, статус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32200"/>
            <a:ext cx="8229600" cy="825500"/>
          </a:xfrm>
        </p:spPr>
        <p:txBody>
          <a:bodyPr/>
          <a:lstStyle/>
          <a:p>
            <a:pPr marL="0" lvl="0" indent="0">
              <a:buNone/>
            </a:pPr>
            <a:r>
              <a:t>По названию нельзя определить обязательность: нужно найти её источник.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Когда стандарт обязателен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Четыре пути «в работу»</a:t>
            </a:r>
          </a:p>
          <a:p>
            <a:pPr marL="342900" lvl="0" indent="-342900">
              <a:buAutoNum type="arabicPeriod"/>
            </a:pPr>
            <a:r>
              <a:t>Закон прямо требует применять документ.</a:t>
            </a:r>
          </a:p>
          <a:p>
            <a:pPr marL="342900" lvl="0" indent="-342900">
              <a:buAutoNum type="arabicPeriod"/>
            </a:pPr>
            <a:r>
              <a:t>Нормативный акт органа в пределах компетенции ссылается на стандарт.</a:t>
            </a:r>
          </a:p>
          <a:p>
            <a:pPr marL="342900" lvl="0" indent="-342900">
              <a:buAutoNum type="arabicPeriod"/>
            </a:pPr>
            <a:r>
              <a:t>Договор или закупка включают стандарт в условия.</a:t>
            </a:r>
          </a:p>
          <a:p>
            <a:pPr marL="342900" lvl="0" indent="-342900">
              <a:buAutoNum type="arabicPeriod"/>
            </a:pPr>
            <a:r>
              <a:t>Собственный выбор организации, закреплённый локальным актом.</a:t>
            </a:r>
          </a:p>
          <a:p>
            <a:pPr marL="0" lvl="0" indent="0">
              <a:buNone/>
            </a:pPr>
            <a:r>
              <a:t>Всегда фиксируем номер, год, раздел и границы. «Применяем ГОСТ» — не основание.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Вопрос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Откуда обязательность?</a:t>
            </a:r>
          </a:p>
          <a:p>
            <a:pPr marL="0" lvl="0" indent="0">
              <a:buNone/>
            </a:pPr>
            <a:r>
              <a:t>В ТЗ на закупку написано: «оборудование должно соответствовать стандарту такому-то».</a:t>
            </a:r>
          </a:p>
          <a:p>
            <a:pPr lvl="0"/>
            <a:r>
              <a:t>Откуда возникает обязательность: из закона или из договора?</a:t>
            </a:r>
          </a:p>
          <a:p>
            <a:pPr lvl="0"/>
            <a:r>
              <a:t>Что изменится, если договор заключён не будет?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ПНСТ и типичные ошибки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ПНСТ: срок и статус</a:t>
            </a:r>
          </a:p>
          <a:p>
            <a:pPr lvl="0"/>
            <a:r>
              <a:t>Не окончательный стандарт: может быть заменён, продлён или прекращён.</a:t>
            </a:r>
          </a:p>
          <a:p>
            <a:pPr lvl="0"/>
            <a:r>
              <a:t>Ссылка в договоре требует номера, года и контроля срока.</a:t>
            </a:r>
          </a:p>
          <a:p>
            <a:pPr lvl="0"/>
            <a:r>
              <a:t>Подробнее о стандартах для доверенных ПАК — лекция 13.</a:t>
            </a:r>
          </a:p>
          <a:p>
            <a:pPr marL="0" lvl="0" indent="0">
              <a:buNone/>
            </a:pPr>
            <a:r>
              <a:t>Типичные ошибки:</a:t>
            </a:r>
          </a:p>
          <a:p>
            <a:pPr lvl="0"/>
            <a:r>
              <a:t>считать стандарт обязательным «по умолчанию»;</a:t>
            </a:r>
          </a:p>
          <a:p>
            <a:pPr lvl="0"/>
            <a:r>
              <a:t>считать необязательный стандарт ненужным;</a:t>
            </a:r>
          </a:p>
          <a:p>
            <a:pPr lvl="0"/>
            <a:r>
              <a:t>ссылаться без номера, редакции и раздела;</a:t>
            </a:r>
          </a:p>
          <a:p>
            <a:pPr lvl="0"/>
            <a:r>
              <a:t>подменять специальное требование общим стандартом.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Подтверждение соответствия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Не смешивать три конструкции</a:t>
            </a:r>
          </a:p>
          <a:p>
            <a:pPr lvl="0"/>
            <a:r>
              <a:t>Обязательное подтверждение соответствия продукции: только в случаях, заданных техническим регламентом.</a:t>
            </a:r>
          </a:p>
          <a:p>
            <a:pPr lvl="0"/>
            <a:r>
              <a:t>Добровольная сертификация: по инициативе заявителя и правилам соответствующей системы.</a:t>
            </a:r>
          </a:p>
          <a:p>
            <a:pPr lvl="0"/>
            <a:r>
              <a:t>Обязательные требования к значимому объекту КИИ: специальный регуляторный контур, не тождественный обязательной сертификации продукции.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Три конструкции: сводка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2217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Конструкция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Откуда обязательность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Что подтверждается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Типичная ошибка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Обязательное подтверждение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технический регламент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соответствие продукции регламенту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применять к любым системам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Добровольная сертификация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инициатива заявителя; договор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соответствие по правилам системы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считать сертификат универсальным разрешением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Требования к значимому объекту КИИ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специальное регулирование КИИ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выполнение мер защиты применительно к объекту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считать, что сертификат продукта закрывает все требования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Сертификат как доказательство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Сертификат не является универсальным разрешением на использование продукта.</a:t>
            </a:r>
          </a:p>
          <a:p>
            <a:pPr marL="0" lvl="0" indent="0">
              <a:buNone/>
            </a:pPr>
            <a:r>
              <a:t>Как читать сертификат:</a:t>
            </a:r>
          </a:p>
          <a:p>
            <a:pPr lvl="0"/>
            <a:r>
              <a:t>что сертифицировано: продукт, версия, комплектация;</a:t>
            </a:r>
          </a:p>
          <a:p>
            <a:pPr lvl="0"/>
            <a:r>
              <a:t>схема и требования;</a:t>
            </a:r>
          </a:p>
          <a:p>
            <a:pPr lvl="0"/>
            <a:r>
              <a:t>срок и условия действия;</a:t>
            </a:r>
          </a:p>
          <a:p>
            <a:pPr lvl="0"/>
            <a:r>
              <a:t>ограничения;</a:t>
            </a:r>
          </a:p>
          <a:p>
            <a:pPr lvl="0"/>
            <a:r>
              <a:t>совпадает ли конфигурация с реально используемой.</a:t>
            </a:r>
          </a:p>
          <a:p>
            <a:pPr marL="0" lvl="0" indent="0">
              <a:buNone/>
            </a:pPr>
            <a:r>
              <a:t>Дополнительно: есть ли обязательные требования к объекту КИИ.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Цепочка подтверждения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От аккредитации до сертификата</a:t>
            </a:r>
          </a:p>
          <a:p>
            <a:pPr marL="0" lvl="0" indent="0">
              <a:buNone/>
            </a:pPr>
            <a:r>
              <a:t>Аккредитация → испытание → протокол → решение органа по сертификации → сертификат</a:t>
            </a:r>
          </a:p>
          <a:p>
            <a:pPr lvl="0"/>
            <a:r>
              <a:t>У каждого звена своя область и свои ограничения.</a:t>
            </a:r>
          </a:p>
          <a:p>
            <a:pPr lvl="0"/>
            <a:r>
              <a:t>Аккредитация не равна испытанию и не равна сертификату.</a:t>
            </a:r>
          </a:p>
          <a:p>
            <a:pPr lvl="0"/>
            <a:r>
              <a:t>Разрыв на любом звене ослабляет вывод.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Аккредитация и испытания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Аккредитация подтверждает компетентность выполнять работы в определённой области.</a:t>
            </a:r>
          </a:p>
          <a:p>
            <a:pPr marL="0" lvl="0" indent="0">
              <a:buNone/>
            </a:pPr>
            <a:r>
              <a:t>Пять вопросов к протоколу:</a:t>
            </a:r>
          </a:p>
          <a:p>
            <a:pPr marL="342900" lvl="0" indent="-342900">
              <a:buAutoNum type="arabicPeriod"/>
            </a:pPr>
            <a:r>
              <a:t>Кто выполнил работу и в какой роли?</a:t>
            </a:r>
          </a:p>
          <a:p>
            <a:pPr marL="342900" lvl="0" indent="-342900">
              <a:buAutoNum type="arabicPeriod"/>
            </a:pPr>
            <a:r>
              <a:t>Какой объект, версия и конфигурация исследовались?</a:t>
            </a:r>
          </a:p>
          <a:p>
            <a:pPr marL="342900" lvl="0" indent="-342900">
              <a:buAutoNum type="arabicPeriod"/>
            </a:pPr>
            <a:r>
              <a:t>По какой методике, критерию или программе?</a:t>
            </a:r>
          </a:p>
          <a:p>
            <a:pPr marL="342900" lvl="0" indent="-342900">
              <a:buAutoNum type="arabicPeriod"/>
            </a:pPr>
            <a:r>
              <a:t>Какие данные и условия использованы?</a:t>
            </a:r>
          </a:p>
          <a:p>
            <a:pPr marL="342900" lvl="0" indent="-342900">
              <a:buAutoNum type="arabicPeriod"/>
            </a:pPr>
            <a:r>
              <a:t>Каковы границы результата: что подтверждает и что нет?</a:t>
            </a:r>
          </a:p>
          <a:p>
            <a:pPr marL="0" lvl="0" indent="0">
              <a:buNone/>
            </a:pPr>
            <a:r>
              <a:t>Именно границы результата чаще всего теряются при пересказе.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Рабочая карточка решения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Что фиксировать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что планируется или выполнено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Основание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норма, договор, риск или внутреннее правило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Применимость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объект, процесс, участник, редакция и дата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Доказательство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акт, протокол, журнал, схема, сертификат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Ограничение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чего доказательство не подтверждает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Пересмотр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событие, владелец и срок проверки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Пример карточки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7400"/>
            <a:ext cx="8229600" cy="711200"/>
          </a:xfrm>
        </p:spPr>
        <p:txBody>
          <a:bodyPr/>
          <a:lstStyle/>
          <a:p>
            <a:pPr marL="0" lvl="0" indent="0">
              <a:buNone/>
            </a:pPr>
            <a:r>
              <a:rPr b="1"/>
              <a:t>Продукт версии 3.2 на сервере обработки данных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Содержание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использовать продукт версии 3.2 на сервере обработки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Основание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закупочное условие о сертификате; регламент выбора ПО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Применимость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сервер обработки данных, подразделение «А»; редакция условий на дату договора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Доказательство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сертификат на версию 3.2, акт приёмки, схема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Ограничение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сертификат — для стандартной конфигурации; нестандартные модули не охвачены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Пересмотр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при обновлении версии или истечении срока; отдел ИБ; раз в год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Пример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«Стандарт обязателен по закону?»</a:t>
            </a:r>
          </a:p>
          <a:p>
            <a:pPr lvl="0"/>
            <a:r>
              <a:t>Ситуация: в ТЗ на закупку написано «соответствовать национальному стандарту».</a:t>
            </a:r>
          </a:p>
          <a:p>
            <a:pPr lvl="0"/>
            <a:r>
              <a:t>Основание: условие закупки, а не закон.</a:t>
            </a:r>
          </a:p>
          <a:p>
            <a:pPr lvl="0"/>
            <a:r>
              <a:t>Решение: включить в договор редакцию и разделы стандарта.</a:t>
            </a:r>
          </a:p>
          <a:p>
            <a:pPr lvl="0"/>
            <a:r>
              <a:t>Ограничение: соответствие стандарту не доказывает пригодность для объекта КИИ.</a:t>
            </a:r>
          </a:p>
          <a:p>
            <a:pPr marL="0" lvl="0" indent="0">
              <a:buNone/>
            </a:pPr>
            <a:r>
              <a:t>Вывод: обязательность возникла из договора.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Пример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Сертификат не на ту версию</a:t>
            </a:r>
          </a:p>
          <a:p>
            <a:pPr lvl="0"/>
            <a:r>
              <a:t>Ситуация: используем версию 4.5, в сертификате — 4.2.</a:t>
            </a:r>
          </a:p>
          <a:p>
            <a:pPr lvl="0"/>
            <a:r>
              <a:t>Применимость: сертификат относится к версии и конфигурации.</a:t>
            </a:r>
          </a:p>
          <a:p>
            <a:pPr lvl="0"/>
            <a:r>
              <a:t>Решение: не принимать без подтверждения распространения на 4.5.</a:t>
            </a:r>
          </a:p>
          <a:p>
            <a:pPr lvl="0"/>
            <a:r>
              <a:t>Пересмотр: проверять область сертификата при каждом обновлении.</a:t>
            </a:r>
          </a:p>
          <a:p>
            <a:pPr marL="0" lvl="0" indent="0">
              <a:buNone/>
            </a:pPr>
            <a:r>
              <a:t>Вывод: «просто новее» — не доказательство.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Пример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Протокол испытаний и интеграция</a:t>
            </a:r>
          </a:p>
          <a:p>
            <a:pPr lvl="0"/>
            <a:r>
              <a:t>Ситуация: протокол на межсетевой экран, его встраивают в узел.</a:t>
            </a:r>
          </a:p>
          <a:p>
            <a:pPr lvl="0"/>
            <a:r>
              <a:t>Протокол доказывает свойства устройства в описанной конфигурации.</a:t>
            </a:r>
          </a:p>
          <a:p>
            <a:pPr lvl="0"/>
            <a:r>
              <a:t>Корректность интеграции подтверждается отдельно.</a:t>
            </a:r>
          </a:p>
          <a:p>
            <a:pPr lvl="0"/>
            <a:r>
              <a:t>Пересмотр: при смене конфигурации или архитектуры узла.</a:t>
            </a:r>
          </a:p>
          <a:p>
            <a:pPr marL="0" lvl="0" indent="0">
              <a:buNone/>
            </a:pPr>
            <a:r>
              <a:t>Вывод: протокол подтверждает продукт, а не безопасность узла.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Пример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Истёкший срок ПНСТ</a:t>
            </a:r>
          </a:p>
          <a:p>
            <a:pPr lvl="0"/>
            <a:r>
              <a:t>Ситуация: локальный документ двухлетней давности ссылается на ПНСТ.</a:t>
            </a:r>
          </a:p>
          <a:p>
            <a:pPr lvl="0"/>
            <a:r>
              <a:t>Срок действия ПНСТ — не более трёх лет.</a:t>
            </a:r>
          </a:p>
          <a:p>
            <a:pPr lvl="0"/>
            <a:r>
              <a:t>Решение: проверить статус и дату, при необходимости обновить ссылку.</a:t>
            </a:r>
          </a:p>
          <a:p>
            <a:pPr lvl="0"/>
            <a:r>
              <a:t>Пересмотр: не реже раза в год.</a:t>
            </a:r>
          </a:p>
          <a:p>
            <a:pPr marL="0" lvl="0" indent="0">
              <a:buNone/>
            </a:pPr>
            <a:r>
              <a:t>Вывод: ссылка без контроля срока — скрытый риск устаревания.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Пример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Письмо поставщика</a:t>
            </a:r>
          </a:p>
          <a:p>
            <a:pPr marL="0" lvl="0" indent="0">
              <a:buNone/>
            </a:pPr>
            <a:r>
              <a:t>«Продукт соответствует требованиям законодательства о КИИ»</a:t>
            </a:r>
          </a:p>
          <a:p>
            <a:pPr lvl="0"/>
            <a:r>
              <a:t>Это заявление стороны, а не протокол и не акт органа.</a:t>
            </a:r>
          </a:p>
          <a:p>
            <a:pPr lvl="0"/>
            <a:r>
              <a:t>Нет требований, объектов и границ.</a:t>
            </a:r>
          </a:p>
          <a:p>
            <a:pPr lvl="0"/>
            <a:r>
              <a:t>Решение: запросить конкретные документы и версии.</a:t>
            </a:r>
          </a:p>
          <a:p>
            <a:pPr marL="0" lvl="0" indent="0">
              <a:buNone/>
            </a:pPr>
            <a:r>
              <a:t>Вывод: письмо без указания требований — не доказательство.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Пример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Добровольный сертификат и значимый объект</a:t>
            </a:r>
          </a:p>
          <a:p>
            <a:pPr marL="0" lvl="0" indent="0">
              <a:buNone/>
            </a:pPr>
            <a:r>
              <a:t>«Требования выполнены, так как продукт сертифицирован»</a:t>
            </a:r>
          </a:p>
          <a:p>
            <a:pPr lvl="0"/>
            <a:r>
              <a:t>Сертификат относится к продукту, а не ко всему объекту.</a:t>
            </a:r>
          </a:p>
          <a:p>
            <a:pPr lvl="0"/>
            <a:r>
              <a:t>Он не заменяет обязательные требования.</a:t>
            </a:r>
          </a:p>
          <a:p>
            <a:pPr lvl="0"/>
            <a:r>
              <a:t>Нужны документы по реализации остальных мер.</a:t>
            </a:r>
          </a:p>
          <a:p>
            <a:pPr marL="0" lvl="0" indent="0">
              <a:buNone/>
            </a:pPr>
            <a:r>
              <a:t>Вывод: «продукт сертифицирован» ≠ «требования к объекту выполнены».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Работа в группах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10–15 минут</a:t>
            </a:r>
          </a:p>
          <a:p>
            <a:pPr marL="342900" lvl="0" indent="-342900">
              <a:buAutoNum type="arabicPeriod"/>
            </a:pPr>
            <a:r>
              <a:t>Каждая группа получает один из примеров 1–6 без разбора.</a:t>
            </a:r>
          </a:p>
          <a:p>
            <a:pPr marL="342900" lvl="0" indent="-342900">
              <a:buAutoNum type="arabicPeriod"/>
            </a:pPr>
            <a:r>
              <a:t>Заполняет карточку решения.</a:t>
            </a:r>
          </a:p>
          <a:p>
            <a:pPr marL="342900" lvl="0" indent="-342900">
              <a:buAutoNum type="arabicPeriod"/>
            </a:pPr>
            <a:r>
              <a:t>Сравнивает с разбором преподавателя.</a:t>
            </a:r>
          </a:p>
          <a:p>
            <a:pPr marL="342900" lvl="0" indent="-342900">
              <a:buAutoNum type="arabicPeriod"/>
            </a:pPr>
            <a:r>
              <a:t>Называет шаг, на котором чаще ошибались.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Типичные ошибки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Ошибка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Как избежать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«Есть документ» = «применим»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пять проверок применимости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Стандарт обязателен «по умолчанию»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найти источник обязательности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Сертификат — универсальное разрешение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проверить объект, версию, срок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Протокол достаточен по названию лаборатории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пять вопросов к протоколу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Специальные требования КИИ подменяют стандартом или сертификатом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отделить три конструкции подтверждения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Игнорируют срок ПНСТ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фиксировать дату и контролировать срок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Пустое поле «Ограничение»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заполнять всегда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Основание придумывают задним числом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уточнить модель решения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Вопросы для обсуждения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Чем «есть ли основание» отличается от «применимо ли основание»?</a:t>
            </a:r>
          </a:p>
          <a:p>
            <a:pPr marL="342900" lvl="0" indent="-342900">
              <a:buAutoNum type="arabicPeriod"/>
            </a:pPr>
            <a:r>
              <a:t>Какие четыре пути делают стандарт обязательным?</a:t>
            </a:r>
          </a:p>
          <a:p>
            <a:pPr marL="342900" lvl="0" indent="-342900">
              <a:buAutoNum type="arabicPeriod"/>
            </a:pPr>
            <a:r>
              <a:t>Чем регламент отличается от национального стандарта?</a:t>
            </a:r>
          </a:p>
          <a:p>
            <a:pPr marL="342900" lvl="0" indent="-342900">
              <a:buAutoNum type="arabicPeriod"/>
            </a:pPr>
            <a:r>
              <a:t>Почему срок ПНСТ влияет на ссылки в договорах?</a:t>
            </a:r>
          </a:p>
          <a:p>
            <a:pPr marL="342900" lvl="0" indent="-342900">
              <a:buAutoNum type="arabicPeriod"/>
            </a:pPr>
            <a:r>
              <a:t>Чем добровольная сертификация отличается от требований к значимому объекту КИИ?</a:t>
            </a:r>
          </a:p>
          <a:p>
            <a:pPr marL="342900" lvl="0" indent="-342900">
              <a:buAutoNum type="arabicPeriod"/>
            </a:pPr>
            <a:r>
              <a:t>Что подтверждает аккредитация и чего не подтверждает?</a:t>
            </a:r>
          </a:p>
          <a:p>
            <a:pPr marL="342900" lvl="0" indent="-342900">
              <a:buAutoNum type="arabicPeriod"/>
            </a:pPr>
            <a:r>
              <a:t>Назовите пять вопросов к протоколу испытаний.</a:t>
            </a:r>
          </a:p>
          <a:p>
            <a:pPr marL="342900" lvl="0" indent="-342900">
              <a:buAutoNum type="arabicPeriod"/>
            </a:pPr>
            <a:r>
              <a:t>Почему письмо поставщика недостаточно?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Связь с курсом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Лекция 2: применимость требований начинается с определения субъекта и объекта КИИ.</a:t>
            </a:r>
          </a:p>
          <a:p>
            <a:pPr lvl="0"/>
            <a:r>
              <a:t>Лекции 3–11: решения о категорировании, защите и реагировании требуют доказательств выполнения.</a:t>
            </a:r>
          </a:p>
          <a:p>
            <a:pPr lvl="0"/>
            <a:r>
              <a:t>Лекция 13: стандарты и ПНСТ для доверенных ПАК.</a:t>
            </a:r>
          </a:p>
          <a:p>
            <a:pPr lvl="0"/>
            <a:r>
              <a:t>Лекция 14: оценка соответствия и границы сертификата.</a:t>
            </a:r>
          </a:p>
          <a:p>
            <a:pPr lvl="0"/>
            <a:r>
              <a:t>Лекции 15–16: доказательная база, корректирующие меры и цикл улучшений.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Итог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Не «найти документ», а установить:</a:t>
            </a:r>
          </a:p>
          <a:p>
            <a:pPr lvl="0"/>
            <a:r>
              <a:t>основание</a:t>
            </a:r>
          </a:p>
          <a:p>
            <a:pPr lvl="0"/>
            <a:r>
              <a:t>применимость</a:t>
            </a:r>
          </a:p>
          <a:p>
            <a:pPr lvl="0"/>
            <a:r>
              <a:t>решение</a:t>
            </a:r>
          </a:p>
          <a:p>
            <a:pPr lvl="0"/>
            <a:r>
              <a:t>доказательство</a:t>
            </a:r>
          </a:p>
          <a:p>
            <a:pPr lvl="0"/>
            <a:r>
              <a:t>ограничение</a:t>
            </a:r>
          </a:p>
          <a:p>
            <a:pPr lvl="0"/>
            <a:r>
              <a:t>пересмотр</a:t>
            </a:r>
          </a:p>
          <a:p>
            <a:pPr marL="0" lvl="0" indent="0">
              <a:buNone/>
            </a:pPr>
            <a:r>
              <a:t>Вопросы к лекции </a:t>
            </a:r>
            <a:r>
              <a:rPr>
                <a:hlinkClick r:id="rId2"/>
              </a:rPr>
              <a:t>https://github.com/arasskazov/IFTIS-KII-2026/blob/main/Lec_1/L1_questionnarie.md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b="1" dirty="0" err="1"/>
              <a:t>Основные</a:t>
            </a:r>
            <a:r>
              <a:rPr b="1" dirty="0"/>
              <a:t> </a:t>
            </a:r>
            <a:r>
              <a:rPr b="1" dirty="0" err="1"/>
              <a:t>источники</a:t>
            </a:r>
            <a:endParaRPr b="1" dirty="0"/>
          </a:p>
          <a:p>
            <a:pPr marL="342900" lvl="0" indent="-342900">
              <a:buAutoNum type="arabicPeriod"/>
            </a:pPr>
            <a:r>
              <a:rPr dirty="0" err="1"/>
              <a:t>Федеральный</a:t>
            </a:r>
            <a:r>
              <a:rPr dirty="0"/>
              <a:t> </a:t>
            </a:r>
            <a:r>
              <a:rPr dirty="0" err="1"/>
              <a:t>закон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27.12.2002 №184-ФЗ «О </a:t>
            </a:r>
            <a:r>
              <a:rPr dirty="0" err="1"/>
              <a:t>техническом</a:t>
            </a:r>
            <a:r>
              <a:rPr dirty="0"/>
              <a:t> </a:t>
            </a:r>
            <a:r>
              <a:rPr dirty="0" err="1"/>
              <a:t>регулировании</a:t>
            </a:r>
            <a:r>
              <a:rPr dirty="0"/>
              <a:t>». </a:t>
            </a:r>
            <a:r>
              <a:rPr dirty="0" err="1"/>
              <a:t>Официальное</a:t>
            </a:r>
            <a:r>
              <a:rPr dirty="0"/>
              <a:t> </a:t>
            </a:r>
            <a:r>
              <a:rPr dirty="0" err="1"/>
              <a:t>опубликование</a:t>
            </a:r>
            <a:r>
              <a:rPr dirty="0"/>
              <a:t>: </a:t>
            </a:r>
            <a:r>
              <a:rPr dirty="0">
                <a:hlinkClick r:id="rId2"/>
              </a:rPr>
              <a:t>http://publication.pravo.gov.ru/Document/View/0001200212300020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Федеральный</a:t>
            </a:r>
            <a:r>
              <a:rPr dirty="0"/>
              <a:t> </a:t>
            </a:r>
            <a:r>
              <a:rPr dirty="0" err="1"/>
              <a:t>закон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29.06.2015 №162-ФЗ «О </a:t>
            </a:r>
            <a:r>
              <a:rPr dirty="0" err="1"/>
              <a:t>стандартизации</a:t>
            </a:r>
            <a:r>
              <a:rPr dirty="0"/>
              <a:t> в </a:t>
            </a:r>
            <a:r>
              <a:rPr dirty="0" err="1"/>
              <a:t>Российской</a:t>
            </a:r>
            <a:r>
              <a:rPr dirty="0"/>
              <a:t> </a:t>
            </a:r>
            <a:r>
              <a:rPr dirty="0" err="1"/>
              <a:t>Федерации</a:t>
            </a:r>
            <a:r>
              <a:rPr dirty="0"/>
              <a:t>». </a:t>
            </a:r>
            <a:r>
              <a:rPr dirty="0" err="1"/>
              <a:t>Официальное</a:t>
            </a:r>
            <a:r>
              <a:rPr dirty="0"/>
              <a:t> </a:t>
            </a:r>
            <a:r>
              <a:rPr dirty="0" err="1"/>
              <a:t>опубликование</a:t>
            </a:r>
            <a:r>
              <a:rPr dirty="0"/>
              <a:t>: </a:t>
            </a:r>
            <a:r>
              <a:rPr dirty="0">
                <a:hlinkClick r:id="rId3"/>
              </a:rPr>
              <a:t>http://publication.pravo.gov.ru/Document/View/0001201506300012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Федеральный</a:t>
            </a:r>
            <a:r>
              <a:rPr dirty="0"/>
              <a:t> </a:t>
            </a:r>
            <a:r>
              <a:rPr dirty="0" err="1"/>
              <a:t>закон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28.12.2013 №412-ФЗ «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аккредитации</a:t>
            </a:r>
            <a:r>
              <a:rPr dirty="0"/>
              <a:t> в </a:t>
            </a:r>
            <a:r>
              <a:rPr dirty="0" err="1"/>
              <a:t>национальной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 </a:t>
            </a:r>
            <a:r>
              <a:rPr dirty="0" err="1"/>
              <a:t>аккредитации</a:t>
            </a:r>
            <a:r>
              <a:rPr dirty="0"/>
              <a:t>». </a:t>
            </a:r>
            <a:r>
              <a:rPr dirty="0" err="1"/>
              <a:t>Официальное</a:t>
            </a:r>
            <a:r>
              <a:rPr dirty="0"/>
              <a:t> </a:t>
            </a:r>
            <a:r>
              <a:rPr dirty="0" err="1"/>
              <a:t>опубликование</a:t>
            </a:r>
            <a:r>
              <a:rPr dirty="0"/>
              <a:t>: </a:t>
            </a:r>
            <a:r>
              <a:rPr dirty="0">
                <a:hlinkClick r:id="rId4"/>
              </a:rPr>
              <a:t>http://publication.pravo.gov.ru/Document/View/0001201312280035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Федеральный</a:t>
            </a:r>
            <a:r>
              <a:rPr dirty="0"/>
              <a:t> </a:t>
            </a:r>
            <a:r>
              <a:rPr dirty="0" err="1"/>
              <a:t>закон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26.06.2008 №102-ФЗ «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обеспечении</a:t>
            </a:r>
            <a:r>
              <a:rPr dirty="0"/>
              <a:t> </a:t>
            </a:r>
            <a:r>
              <a:rPr dirty="0" err="1"/>
              <a:t>единства</a:t>
            </a:r>
            <a:r>
              <a:rPr dirty="0"/>
              <a:t> </a:t>
            </a:r>
            <a:r>
              <a:rPr dirty="0" err="1"/>
              <a:t>измерений</a:t>
            </a:r>
            <a:r>
              <a:rPr dirty="0"/>
              <a:t>». </a:t>
            </a:r>
            <a:r>
              <a:rPr dirty="0" err="1"/>
              <a:t>Официальное</a:t>
            </a:r>
            <a:r>
              <a:rPr dirty="0"/>
              <a:t> </a:t>
            </a:r>
            <a:r>
              <a:rPr dirty="0" err="1"/>
              <a:t>опубликование</a:t>
            </a:r>
            <a:r>
              <a:rPr dirty="0"/>
              <a:t>: </a:t>
            </a:r>
            <a:r>
              <a:rPr dirty="0">
                <a:hlinkClick r:id="rId5"/>
              </a:rPr>
              <a:t>http://publication.pravo.gov.ru/Document/View/0001200806270001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Федеральный</a:t>
            </a:r>
            <a:r>
              <a:rPr dirty="0"/>
              <a:t> </a:t>
            </a:r>
            <a:r>
              <a:rPr dirty="0" err="1"/>
              <a:t>закон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26.07.2017 №187-ФЗ «О </a:t>
            </a:r>
            <a:r>
              <a:rPr dirty="0" err="1"/>
              <a:t>безопасности</a:t>
            </a:r>
            <a:r>
              <a:rPr dirty="0"/>
              <a:t> </a:t>
            </a:r>
            <a:r>
              <a:rPr dirty="0" err="1"/>
              <a:t>критической</a:t>
            </a:r>
            <a:r>
              <a:rPr dirty="0"/>
              <a:t> </a:t>
            </a:r>
            <a:r>
              <a:rPr dirty="0" err="1"/>
              <a:t>информационной</a:t>
            </a:r>
            <a:r>
              <a:rPr dirty="0"/>
              <a:t> </a:t>
            </a:r>
            <a:r>
              <a:rPr dirty="0" err="1"/>
              <a:t>инфраструктуры</a:t>
            </a:r>
            <a:r>
              <a:rPr dirty="0"/>
              <a:t> </a:t>
            </a:r>
            <a:r>
              <a:rPr dirty="0" err="1"/>
              <a:t>Российской</a:t>
            </a:r>
            <a:r>
              <a:rPr dirty="0"/>
              <a:t> </a:t>
            </a:r>
            <a:r>
              <a:rPr dirty="0" err="1"/>
              <a:t>Федерации</a:t>
            </a:r>
            <a:r>
              <a:rPr dirty="0"/>
              <a:t>». </a:t>
            </a:r>
            <a:r>
              <a:rPr dirty="0" err="1"/>
              <a:t>Официальное</a:t>
            </a:r>
            <a:r>
              <a:rPr dirty="0"/>
              <a:t> </a:t>
            </a:r>
            <a:r>
              <a:rPr dirty="0" err="1"/>
              <a:t>опубликование</a:t>
            </a:r>
            <a:r>
              <a:rPr dirty="0"/>
              <a:t>: </a:t>
            </a:r>
            <a:r>
              <a:rPr dirty="0">
                <a:hlinkClick r:id="rId6"/>
              </a:rPr>
              <a:t>http://publication.pravo.gov.ru/Document/View/0001201707260023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Официальный</a:t>
            </a:r>
            <a:r>
              <a:rPr dirty="0"/>
              <a:t> </a:t>
            </a:r>
            <a:r>
              <a:rPr dirty="0" err="1"/>
              <a:t>интернет-портал</a:t>
            </a:r>
            <a:r>
              <a:rPr dirty="0"/>
              <a:t> </a:t>
            </a:r>
            <a:r>
              <a:rPr dirty="0" err="1"/>
              <a:t>правовой</a:t>
            </a:r>
            <a:r>
              <a:rPr dirty="0"/>
              <a:t> </a:t>
            </a:r>
            <a:r>
              <a:rPr dirty="0" err="1"/>
              <a:t>информации</a:t>
            </a:r>
            <a:r>
              <a:rPr dirty="0"/>
              <a:t>: </a:t>
            </a:r>
            <a:r>
              <a:rPr dirty="0">
                <a:hlinkClick r:id="rId7"/>
              </a:rPr>
              <a:t>http://publication.pravo.gov.ru/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Росстандарт</a:t>
            </a:r>
            <a:r>
              <a:rPr dirty="0"/>
              <a:t>: </a:t>
            </a:r>
            <a:r>
              <a:rPr dirty="0">
                <a:hlinkClick r:id="rId8"/>
              </a:rPr>
              <a:t>https://www.rst.gov.ru/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Росаккредитация</a:t>
            </a:r>
            <a:r>
              <a:rPr dirty="0"/>
              <a:t>: </a:t>
            </a:r>
            <a:r>
              <a:rPr dirty="0">
                <a:hlinkClick r:id="rId9"/>
              </a:rPr>
              <a:t>https://fsa.gov.ru/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b="1" dirty="0" err="1"/>
              <a:t>Связанные</a:t>
            </a:r>
            <a:r>
              <a:rPr b="1" dirty="0"/>
              <a:t> </a:t>
            </a:r>
            <a:r>
              <a:rPr b="1" dirty="0" err="1"/>
              <a:t>источники</a:t>
            </a:r>
            <a:endParaRPr b="1" dirty="0"/>
          </a:p>
          <a:p>
            <a:pPr marL="342900" lvl="0" indent="-342900">
              <a:buAutoNum type="arabicPeriod" startAt="9"/>
            </a:pPr>
            <a:r>
              <a:rPr dirty="0"/>
              <a:t>ГОСТ Р ИСО/МЭК 17025. </a:t>
            </a:r>
            <a:r>
              <a:rPr dirty="0" err="1"/>
              <a:t>Общие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 к </a:t>
            </a:r>
            <a:r>
              <a:rPr dirty="0" err="1"/>
              <a:t>компетентности</a:t>
            </a:r>
            <a:r>
              <a:rPr dirty="0"/>
              <a:t> </a:t>
            </a:r>
            <a:r>
              <a:rPr dirty="0" err="1"/>
              <a:t>испытательных</a:t>
            </a:r>
            <a:r>
              <a:rPr dirty="0"/>
              <a:t> и </a:t>
            </a:r>
            <a:r>
              <a:rPr dirty="0" err="1"/>
              <a:t>калибровочных</a:t>
            </a:r>
            <a:r>
              <a:rPr dirty="0"/>
              <a:t> </a:t>
            </a:r>
            <a:r>
              <a:rPr dirty="0" err="1"/>
              <a:t>лабораторий</a:t>
            </a:r>
            <a:r>
              <a:rPr dirty="0"/>
              <a:t>.</a:t>
            </a:r>
          </a:p>
          <a:p>
            <a:pPr marL="342900" lvl="0" indent="-342900">
              <a:buAutoNum type="arabicPeriod" startAt="9"/>
            </a:pPr>
            <a:r>
              <a:rPr dirty="0"/>
              <a:t>ГОСТ Р ИСО/МЭК 17065. </a:t>
            </a: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соответствия</a:t>
            </a:r>
            <a:r>
              <a:rPr dirty="0"/>
              <a:t>. </a:t>
            </a:r>
            <a:r>
              <a:rPr dirty="0" err="1"/>
              <a:t>Требования</a:t>
            </a:r>
            <a:r>
              <a:rPr dirty="0"/>
              <a:t> к </a:t>
            </a:r>
            <a:r>
              <a:rPr dirty="0" err="1"/>
              <a:t>органам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сертификации</a:t>
            </a:r>
            <a:r>
              <a:rPr dirty="0"/>
              <a:t> </a:t>
            </a:r>
            <a:r>
              <a:rPr dirty="0" err="1"/>
              <a:t>продукции</a:t>
            </a:r>
            <a:r>
              <a:rPr dirty="0"/>
              <a:t>, </a:t>
            </a:r>
            <a:r>
              <a:rPr dirty="0" err="1"/>
              <a:t>процессов</a:t>
            </a:r>
            <a:r>
              <a:rPr dirty="0"/>
              <a:t> и </a:t>
            </a:r>
            <a:r>
              <a:rPr dirty="0" err="1"/>
              <a:t>услуг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2041</Words>
  <Application>Microsoft Office PowerPoint</Application>
  <PresentationFormat>Экран (16:9)</PresentationFormat>
  <Paragraphs>325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Лекция 1</vt:lpstr>
      <vt:lpstr>Цели лекции</vt:lpstr>
      <vt:lpstr>Вопрос 1</vt:lpstr>
      <vt:lpstr>Центральный вопрос</vt:lpstr>
      <vt:lpstr>Карта источников</vt:lpstr>
      <vt:lpstr>Лестница актов</vt:lpstr>
      <vt:lpstr>Вопрос 2</vt:lpstr>
      <vt:lpstr>Три коллизии</vt:lpstr>
      <vt:lpstr>Пять проверок применимости</vt:lpstr>
      <vt:lpstr>Глоссарий (1)</vt:lpstr>
      <vt:lpstr>Глоссарий (2)</vt:lpstr>
      <vt:lpstr>Регламент, стандарт, ПНСТ</vt:lpstr>
      <vt:lpstr>Когда стандарт обязателен</vt:lpstr>
      <vt:lpstr>Вопрос 3</vt:lpstr>
      <vt:lpstr>ПНСТ и типичные ошибки</vt:lpstr>
      <vt:lpstr>Подтверждение соответствия</vt:lpstr>
      <vt:lpstr>Три конструкции: сводка</vt:lpstr>
      <vt:lpstr>Сертификат как доказательство</vt:lpstr>
      <vt:lpstr>Цепочка подтверждения</vt:lpstr>
      <vt:lpstr>Аккредитация и испытания</vt:lpstr>
      <vt:lpstr>Рабочая карточка решения</vt:lpstr>
      <vt:lpstr>Пример карточки</vt:lpstr>
      <vt:lpstr>Пример 1</vt:lpstr>
      <vt:lpstr>Пример 2</vt:lpstr>
      <vt:lpstr>Пример 3</vt:lpstr>
      <vt:lpstr>Пример 4</vt:lpstr>
      <vt:lpstr>Пример 5</vt:lpstr>
      <vt:lpstr>Пример 6</vt:lpstr>
      <vt:lpstr>Работа в группах</vt:lpstr>
      <vt:lpstr>Типичные ошибки</vt:lpstr>
      <vt:lpstr>Вопросы для обсуждения</vt:lpstr>
      <vt:lpstr>Связь с курсом</vt:lpstr>
      <vt:lpstr>Итог</vt:lpstr>
      <vt:lpstr>Список литературы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Office PowerPoint</Application>
  <PresentationFormat>Экран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</dc:title>
  <dc:creator/>
  <cp:keywords/>
  <cp:lastModifiedBy>RAA</cp:lastModifiedBy>
  <cp:revision>1</cp:revision>
  <dcterms:created xsi:type="dcterms:W3CDTF">2026-10-06T13:00:35Z</dcterms:created>
  <dcterms:modified xsi:type="dcterms:W3CDTF">2026-10-06T13:02:22Z</dcterms:modified>
</cp:coreProperties>
</file>