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06" d="100"/>
          <a:sy n="106" d="100"/>
        </p:scale>
        <p:origin x="778" y="7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23DA60-2959-4A4C-AEB5-6F3C699F495B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F5B7F8-7199-4E99-A186-F572C4FC9B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8915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BF32EBF7-C8A6-42CD-90E8-59FCA44C5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160158" y="-16565"/>
            <a:ext cx="1840921" cy="1860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CA708-F88E-4D4A-AA18-9822072AA83A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1665E-D042-4320-8764-7F6D2C631042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7B14A-EB31-4ABC-A90E-E5FA6FC4B337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469EBB0B-36EA-4B29-9BBE-DAD46164C2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46296" y="75480"/>
            <a:ext cx="1787912" cy="180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A21F6-E92E-4124-BA88-23DB56BDC73A}" type="datetime1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375CD-5D83-4207-AA78-26FF825B5366}" type="datetime1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90211-F5D9-4488-9A7A-BC0BB5A4363D}" type="datetime1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FCC64FF2-3323-4E69-826A-7400014FD5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220282" y="524552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5F43D-38FD-4860-9F64-FCA28DD4DE7D}" type="datetime1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550D0-C3AA-466C-84CC-A16A28CB0C1D}" type="datetime1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98D09-CFD4-4F76-B3E4-280F6132324A}" type="datetime1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A44B4-AB95-4C7C-9903-AD6CB2DF26EF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83AA2-485C-4307-8F76-12519BBFCD67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33733" cy="459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95130"/>
            <a:ext cx="8229600" cy="3799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3DFEDB-C93A-467E-8F3E-5CFFFC195238}" type="datetime1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1" descr="/mnt/data/asset_icons/image3.png">
            <a:extLst>
              <a:ext uri="{FF2B5EF4-FFF2-40B4-BE49-F238E27FC236}">
                <a16:creationId xmlns:a16="http://schemas.microsoft.com/office/drawing/2014/main" id="{07B1F67F-77AB-4D11-A16B-35A1040E62A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890933" y="138406"/>
            <a:ext cx="1102360" cy="4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3429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ru-RU" b="1" dirty="0"/>
              <a:t>Лекция 3. Категорирование:</a:t>
            </a:r>
            <a:br>
              <a:rPr lang="ru-RU" b="1" dirty="0"/>
            </a:br>
            <a:r>
              <a:rPr lang="ru-RU" b="1" dirty="0"/>
              <a:t> доказательное решение и пересмотр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id="{C17CFBF1-33D2-4F55-A998-5F1D186BF5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E7D76E-1FE5-4F1F-B7C9-008FAB287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Результат категорирования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87400"/>
            <a:ext cx="8229600" cy="631000"/>
          </a:xfrm>
        </p:spPr>
        <p:txBody>
          <a:bodyPr/>
          <a:lstStyle/>
          <a:p>
            <a:pPr marL="0" lvl="0" indent="0">
              <a:buNone/>
            </a:pPr>
            <a:r>
              <a:rPr dirty="0" err="1"/>
              <a:t>Категорирование</a:t>
            </a:r>
            <a:r>
              <a:rPr dirty="0"/>
              <a:t> </a:t>
            </a:r>
            <a:r>
              <a:rPr lang="ru-RU" dirty="0"/>
              <a:t>- э</a:t>
            </a:r>
            <a:r>
              <a:rPr dirty="0" err="1"/>
              <a:t>то</a:t>
            </a:r>
            <a:r>
              <a:rPr dirty="0"/>
              <a:t> </a:t>
            </a:r>
            <a:r>
              <a:rPr dirty="0" err="1"/>
              <a:t>управляемое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, в </a:t>
            </a:r>
            <a:r>
              <a:rPr dirty="0" err="1"/>
              <a:t>котором</a:t>
            </a:r>
            <a:r>
              <a:rPr dirty="0"/>
              <a:t> </a:t>
            </a:r>
            <a:r>
              <a:rPr dirty="0" err="1"/>
              <a:t>фиксируются</a:t>
            </a:r>
            <a:r>
              <a:rPr dirty="0"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9383585"/>
              </p:ext>
            </p:extLst>
          </p:nvPr>
        </p:nvGraphicFramePr>
        <p:xfrm>
          <a:off x="457200" y="1418400"/>
          <a:ext cx="8229600" cy="3407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 err="1"/>
                        <a:t>Элемент</a:t>
                      </a:r>
                      <a:endParaRPr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Вопрос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Объект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Что именно оценивается и где его граница?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Основание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Почему объект рассматривается в процедуре?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Последствия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Какие показатели могут быть достигнуты?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Доказательства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Чем подтверждены исходные данные?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4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Какая категория присвоена либо почему она не присваивается?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10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Пересмотр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 err="1"/>
                        <a:t>Что</a:t>
                      </a:r>
                      <a:r>
                        <a:rPr sz="1600" dirty="0"/>
                        <a:t> </a:t>
                      </a:r>
                      <a:r>
                        <a:rPr sz="1600" dirty="0" err="1"/>
                        <a:t>изменит</a:t>
                      </a:r>
                      <a:r>
                        <a:rPr sz="1600" dirty="0"/>
                        <a:t> </a:t>
                      </a:r>
                      <a:r>
                        <a:rPr sz="1600" dirty="0" err="1"/>
                        <a:t>вывод</a:t>
                      </a:r>
                      <a:r>
                        <a:rPr sz="1600" dirty="0"/>
                        <a:t> и </a:t>
                      </a:r>
                      <a:r>
                        <a:rPr sz="1600" dirty="0" err="1"/>
                        <a:t>когда</a:t>
                      </a:r>
                      <a:r>
                        <a:rPr sz="1600" dirty="0"/>
                        <a:t> </a:t>
                      </a:r>
                      <a:r>
                        <a:rPr sz="1600" dirty="0" err="1"/>
                        <a:t>его</a:t>
                      </a:r>
                      <a:r>
                        <a:rPr sz="1600" dirty="0"/>
                        <a:t> </a:t>
                      </a:r>
                      <a:r>
                        <a:rPr sz="1600" dirty="0" err="1"/>
                        <a:t>проверить</a:t>
                      </a:r>
                      <a:r>
                        <a:rPr sz="1600" dirty="0"/>
                        <a:t> </a:t>
                      </a:r>
                      <a:r>
                        <a:rPr sz="1600" dirty="0" err="1"/>
                        <a:t>заново</a:t>
                      </a:r>
                      <a:r>
                        <a:rPr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D802D1-4A46-4757-A8D7-F63D62F6D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99209"/>
            <a:ext cx="8229600" cy="107679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ru-RU" sz="1600" dirty="0"/>
              <a:t>Категорирование объектов КИИ это установленная законом процедура определения значимости информационной системы, сети или автоматизированной системы управления (АСУ) на основе оценки возможных негативных последствий при нарушении их работы</a:t>
            </a:r>
            <a:r>
              <a:rPr lang="en-US" sz="1600" dirty="0"/>
              <a:t> </a:t>
            </a:r>
          </a:p>
          <a:p>
            <a:pPr marL="0" lvl="0" indent="0">
              <a:buNone/>
            </a:pPr>
            <a:r>
              <a:rPr lang="en-US" sz="1600" dirty="0"/>
              <a:t>(</a:t>
            </a:r>
            <a:r>
              <a:rPr lang="ru-RU" sz="1600" dirty="0"/>
              <a:t>ФЗ</a:t>
            </a:r>
            <a:r>
              <a:rPr lang="en-US" sz="1600" dirty="0"/>
              <a:t>-187</a:t>
            </a:r>
            <a:r>
              <a:rPr lang="ru-RU" sz="1600" dirty="0"/>
              <a:t>, ст.7</a:t>
            </a:r>
            <a:r>
              <a:rPr lang="en-US" sz="1600" dirty="0"/>
              <a:t>)</a:t>
            </a:r>
            <a:endParaRPr sz="16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54475E-B5C2-45CA-909C-CA8736E4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8BC75C-D5DD-4EE1-998A-BF183922C173}"/>
              </a:ext>
            </a:extLst>
          </p:cNvPr>
          <p:cNvSpPr txBox="1">
            <a:spLocks/>
          </p:cNvSpPr>
          <p:nvPr/>
        </p:nvSpPr>
        <p:spPr>
          <a:xfrm>
            <a:off x="457200" y="1670400"/>
            <a:ext cx="8229600" cy="32671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/>
              <a:buAutoNum type="arabicPeriod"/>
            </a:pPr>
            <a:r>
              <a:rPr lang="ru-RU" sz="1600" dirty="0"/>
              <a:t>Создание комиссии</a:t>
            </a:r>
            <a:r>
              <a:rPr lang="en-US" sz="1600" dirty="0"/>
              <a:t> </a:t>
            </a:r>
            <a:r>
              <a:rPr lang="ru-RU" sz="1600" dirty="0"/>
              <a:t>Руководитель организации своим приказом формирует постоянно действующую комиссию по категорированию.</a:t>
            </a:r>
            <a:endParaRPr lang="en-US" sz="1600" dirty="0"/>
          </a:p>
          <a:p>
            <a:pPr marL="457200" indent="-457200">
              <a:buFont typeface="Arial"/>
              <a:buAutoNum type="arabicPeriod"/>
            </a:pPr>
            <a:r>
              <a:rPr lang="ru-RU" sz="1600" dirty="0"/>
              <a:t>Инвентаризация и выявление объектов</a:t>
            </a:r>
            <a:r>
              <a:rPr lang="en-US" sz="1600" dirty="0"/>
              <a:t> </a:t>
            </a:r>
            <a:r>
              <a:rPr lang="ru-RU" sz="1600" dirty="0"/>
              <a:t>Проводится аудит и составляется перечень всех информационных систем (ИС), информационно-телекоммуникационных сетей (ИТКС) и АСУ ТП, используемых в ключевых сферах деятельности.</a:t>
            </a:r>
            <a:endParaRPr lang="en-US" sz="1600" dirty="0"/>
          </a:p>
          <a:p>
            <a:pPr marL="457200" indent="-457200">
              <a:buFont typeface="Arial"/>
              <a:buAutoNum type="arabicPeriod"/>
            </a:pPr>
            <a:r>
              <a:rPr lang="ru-RU" sz="1600" dirty="0"/>
              <a:t>Определение процессов и угроз</a:t>
            </a:r>
            <a:r>
              <a:rPr lang="en-US" sz="1600" dirty="0"/>
              <a:t> </a:t>
            </a:r>
            <a:r>
              <a:rPr lang="ru-RU" sz="1600" dirty="0"/>
              <a:t>Анализируются технологические и бизнес-процессы, выявляются возможные нарушители и актуальные угрозы безопасности.</a:t>
            </a:r>
            <a:endParaRPr lang="en-US" sz="1600" dirty="0"/>
          </a:p>
          <a:p>
            <a:pPr marL="457200" indent="-457200">
              <a:buFont typeface="Arial"/>
              <a:buAutoNum type="arabicPeriod"/>
            </a:pPr>
            <a:r>
              <a:rPr lang="ru-RU" sz="1600" dirty="0"/>
              <a:t>Оценка масштаба возможных последствий</a:t>
            </a:r>
            <a:r>
              <a:rPr lang="en-US" sz="1600" dirty="0"/>
              <a:t> </a:t>
            </a:r>
            <a:r>
              <a:rPr lang="ru-RU" sz="1600" dirty="0"/>
              <a:t>Ущерб оценивается по социальным, политическим, экономическим, экологическим показателям и факторам безопасности государства (согласно критериям ПП № 127).</a:t>
            </a:r>
            <a:endParaRPr lang="en-US" sz="1600" dirty="0"/>
          </a:p>
          <a:p>
            <a:pPr marL="457200" indent="-457200">
              <a:buFont typeface="Arial"/>
              <a:buAutoNum type="arabicPeriod"/>
            </a:pPr>
            <a:r>
              <a:rPr lang="ru-RU" sz="1600" dirty="0"/>
              <a:t>Присвоение категории</a:t>
            </a:r>
            <a:r>
              <a:rPr lang="en-US" sz="1600" dirty="0"/>
              <a:t> </a:t>
            </a:r>
            <a:r>
              <a:rPr lang="ru-RU" sz="1600" dirty="0"/>
              <a:t>Объекту присваивается одна из трех категорий значимости (I, II или III) либо принимается решение о том, что объект является незначимым.</a:t>
            </a:r>
            <a:endParaRPr lang="en-US" sz="1600" dirty="0"/>
          </a:p>
          <a:p>
            <a:pPr marL="457200" indent="-457200">
              <a:buFont typeface="Arial"/>
              <a:buAutoNum type="arabicPeriod"/>
            </a:pPr>
            <a:r>
              <a:rPr lang="ru-RU" sz="1600" dirty="0"/>
              <a:t>Согласование и отправка во ФСТЭК</a:t>
            </a:r>
            <a:r>
              <a:rPr lang="en-US" sz="1600" dirty="0"/>
              <a:t> </a:t>
            </a:r>
            <a:r>
              <a:rPr lang="ru-RU" sz="1600" dirty="0"/>
              <a:t>Результаты оформляются актом и сведениями по установленной форме (Форма 236), которые направляются во ФСТЭК России в течение 10 рабочих дней</a:t>
            </a:r>
          </a:p>
        </p:txBody>
      </p:sp>
    </p:spTree>
    <p:extLst>
      <p:ext uri="{BB962C8B-B14F-4D97-AF65-F5344CB8AC3E}">
        <p14:creationId xmlns:p14="http://schemas.microsoft.com/office/powerpoint/2010/main" val="1290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Нормативная карта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Источник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Роль в работе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Федеральный закон о КИИ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устанавливает рамку категорирования и полномочия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Правительственные правила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описывают процедуру, критерии и представление сведений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Типовые отраслевые перечни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направляют сопоставление объектов по функциям и сфере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Отраслевые особенности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уточняют процедуру и показатели для отдельных сфер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Внутренние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подтверждают границы, функции, пользователей и последствия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32200"/>
            <a:ext cx="8229600" cy="825500"/>
          </a:xfrm>
        </p:spPr>
        <p:txBody>
          <a:bodyPr/>
          <a:lstStyle/>
          <a:p>
            <a:pPr marL="0" lvl="0" indent="0">
              <a:buNone/>
            </a:pPr>
            <a:r>
              <a:t>Перед применением проверяют редакцию, дату действия и адресата каждого источника.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BB16315-BD50-4A91-8335-77D165ABB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Шаг 1. Проверка входа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Используйте</a:t>
            </a:r>
            <a:r>
              <a:rPr dirty="0"/>
              <a:t> </a:t>
            </a:r>
            <a:r>
              <a:rPr dirty="0" err="1"/>
              <a:t>паспорт</a:t>
            </a:r>
            <a:r>
              <a:rPr dirty="0"/>
              <a:t> </a:t>
            </a:r>
            <a:r>
              <a:rPr dirty="0" err="1"/>
              <a:t>применимости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dirty="0" err="1"/>
              <a:t>субъект</a:t>
            </a:r>
            <a:r>
              <a:rPr dirty="0"/>
              <a:t> и </a:t>
            </a:r>
            <a:r>
              <a:rPr dirty="0" err="1"/>
              <a:t>основание</a:t>
            </a:r>
            <a:r>
              <a:rPr dirty="0"/>
              <a:t> </a:t>
            </a:r>
            <a:r>
              <a:rPr dirty="0" err="1"/>
              <a:t>применимости</a:t>
            </a:r>
            <a:r>
              <a:rPr dirty="0"/>
              <a:t> </a:t>
            </a:r>
            <a:r>
              <a:rPr dirty="0" err="1"/>
              <a:t>подтверждены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объект</a:t>
            </a:r>
            <a:r>
              <a:rPr dirty="0"/>
              <a:t> </a:t>
            </a:r>
            <a:r>
              <a:rPr dirty="0" err="1"/>
              <a:t>описан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ИС, </a:t>
            </a:r>
            <a:r>
              <a:rPr dirty="0" err="1"/>
              <a:t>сеть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АСУ;</a:t>
            </a:r>
          </a:p>
          <a:p>
            <a:pPr marL="342900" lvl="0" indent="-342900">
              <a:buAutoNum type="arabicPeriod"/>
            </a:pPr>
            <a:r>
              <a:rPr dirty="0" err="1"/>
              <a:t>установлены</a:t>
            </a:r>
            <a:r>
              <a:rPr dirty="0"/>
              <a:t> </a:t>
            </a:r>
            <a:r>
              <a:rPr dirty="0" err="1"/>
              <a:t>владелец</a:t>
            </a:r>
            <a:r>
              <a:rPr dirty="0"/>
              <a:t>, </a:t>
            </a:r>
            <a:r>
              <a:rPr dirty="0" err="1"/>
              <a:t>граница</a:t>
            </a:r>
            <a:r>
              <a:rPr dirty="0"/>
              <a:t> и </a:t>
            </a:r>
            <a:r>
              <a:rPr dirty="0" err="1"/>
              <a:t>функция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источники</a:t>
            </a:r>
            <a:r>
              <a:rPr dirty="0"/>
              <a:t> </a:t>
            </a:r>
            <a:r>
              <a:rPr dirty="0" err="1"/>
              <a:t>фактов</a:t>
            </a:r>
            <a:r>
              <a:rPr dirty="0"/>
              <a:t> </a:t>
            </a:r>
            <a:r>
              <a:rPr dirty="0" err="1"/>
              <a:t>известны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неустранённые</a:t>
            </a:r>
            <a:r>
              <a:rPr dirty="0"/>
              <a:t> </a:t>
            </a:r>
            <a:r>
              <a:rPr dirty="0" err="1"/>
              <a:t>пробелы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искажают</a:t>
            </a:r>
            <a:r>
              <a:rPr dirty="0"/>
              <a:t> </a:t>
            </a:r>
            <a:r>
              <a:rPr dirty="0" err="1"/>
              <a:t>расчёт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условие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выполнено</a:t>
            </a:r>
            <a:r>
              <a:rPr dirty="0"/>
              <a:t>, </a:t>
            </a:r>
            <a:r>
              <a:rPr dirty="0" err="1"/>
              <a:t>результат</a:t>
            </a:r>
            <a:r>
              <a:rPr lang="ru-RU" dirty="0"/>
              <a:t>:</a:t>
            </a:r>
            <a:r>
              <a:rPr dirty="0"/>
              <a:t>  </a:t>
            </a:r>
            <a:r>
              <a:rPr dirty="0" err="1"/>
              <a:t>запрос</a:t>
            </a:r>
            <a:r>
              <a:rPr dirty="0"/>
              <a:t> </a:t>
            </a:r>
            <a:r>
              <a:rPr dirty="0" err="1"/>
              <a:t>уточнений</a:t>
            </a:r>
            <a:r>
              <a:rPr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54475E-B5C2-45CA-909C-CA8736E4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Шаг 2. Сопоставление с перечнем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Сопоставляйте объект не по одному названию, а по совокупности признаков:</a:t>
            </a:r>
          </a:p>
          <a:p>
            <a:pPr lvl="0"/>
            <a:r>
              <a:t>виду объекта;</a:t>
            </a:r>
          </a:p>
          <a:p>
            <a:pPr lvl="0"/>
            <a:r>
              <a:t>функции или процессу;</a:t>
            </a:r>
          </a:p>
          <a:p>
            <a:pPr lvl="0"/>
            <a:r>
              <a:t>сфере деятельности;</a:t>
            </a:r>
          </a:p>
          <a:p>
            <a:pPr lvl="0"/>
            <a:r>
              <a:t>признакам, указанным в действующей версии типового перечня;</a:t>
            </a:r>
          </a:p>
          <a:p>
            <a:pPr lvl="0"/>
            <a:r>
              <a:t>отраслевым особенностям, если они применимы.</a:t>
            </a:r>
          </a:p>
          <a:p>
            <a:pPr marL="0" lvl="0" indent="0">
              <a:buNone/>
            </a:pPr>
            <a:r>
              <a:t>Результат: совпадение подтверждено / не подтверждено / недостаточно данных.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455B719-F4A5-49CC-91B5-4CABA686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Шаг 3. Последствия и показатели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87400"/>
            <a:ext cx="8229600" cy="711200"/>
          </a:xfrm>
        </p:spPr>
        <p:txBody>
          <a:bodyPr/>
          <a:lstStyle/>
          <a:p>
            <a:pPr marL="0" lvl="0" indent="0">
              <a:buNone/>
            </a:pPr>
            <a:r>
              <a:t>Показатель применяют к возможным последствиям компьютерного инцидента в границах объекта.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8229600" cy="148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Примеры источников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Пользователи и получатели услуги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договоры, реестры, отчёты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Параметры функционирования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регламенты, SLA, технологические документы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Возможный ущерб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 err="1"/>
                        <a:t>расчёты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планы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непрерывности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акты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оценки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Связанные процессы и интерфейсы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 err="1"/>
                        <a:t>схемы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журналы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изменений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интервью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владельцев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3733800"/>
            <a:ext cx="8229600" cy="711200"/>
          </a:xfrm>
        </p:spPr>
        <p:txBody>
          <a:bodyPr/>
          <a:lstStyle/>
          <a:p>
            <a:pPr marL="0" lvl="0" indent="0">
              <a:buNone/>
            </a:pPr>
            <a:r>
              <a:rPr dirty="0" err="1"/>
              <a:t>Правило</a:t>
            </a:r>
            <a:r>
              <a:rPr dirty="0"/>
              <a:t> </a:t>
            </a:r>
            <a:r>
              <a:rPr dirty="0" err="1"/>
              <a:t>выбора</a:t>
            </a:r>
            <a:r>
              <a:rPr dirty="0"/>
              <a:t> </a:t>
            </a:r>
            <a:r>
              <a:rPr dirty="0" err="1"/>
              <a:t>итоговой</a:t>
            </a:r>
            <a:r>
              <a:rPr dirty="0"/>
              <a:t> </a:t>
            </a:r>
            <a:r>
              <a:rPr dirty="0" err="1"/>
              <a:t>категории</a:t>
            </a:r>
            <a:r>
              <a:rPr dirty="0"/>
              <a:t> и </a:t>
            </a:r>
            <a:r>
              <a:rPr dirty="0" err="1"/>
              <a:t>детали</a:t>
            </a:r>
            <a:r>
              <a:rPr dirty="0"/>
              <a:t> </a:t>
            </a:r>
            <a:r>
              <a:rPr dirty="0" err="1"/>
              <a:t>расчёта</a:t>
            </a:r>
            <a:r>
              <a:rPr dirty="0"/>
              <a:t> </a:t>
            </a:r>
            <a:r>
              <a:rPr dirty="0" err="1"/>
              <a:t>проверяются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действующей</a:t>
            </a:r>
            <a:r>
              <a:rPr dirty="0"/>
              <a:t> </a:t>
            </a:r>
            <a:r>
              <a:rPr dirty="0" err="1"/>
              <a:t>редакции</a:t>
            </a:r>
            <a:r>
              <a:rPr dirty="0"/>
              <a:t> </a:t>
            </a:r>
            <a:r>
              <a:rPr dirty="0" err="1"/>
              <a:t>применимого</a:t>
            </a:r>
            <a:r>
              <a:rPr dirty="0"/>
              <a:t> </a:t>
            </a:r>
            <a:r>
              <a:rPr dirty="0" err="1"/>
              <a:t>акта</a:t>
            </a:r>
            <a:r>
              <a:rPr dirty="0"/>
              <a:t>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E0ADFA-F759-40CA-87DE-451568AD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Шаг 4. Решение и сведения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 err="1"/>
              <a:t>Карточка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фиксирует</a:t>
            </a:r>
            <a:r>
              <a:rPr dirty="0"/>
              <a:t>:</a:t>
            </a:r>
          </a:p>
          <a:p>
            <a:pPr lvl="0"/>
            <a:r>
              <a:rPr dirty="0" err="1"/>
              <a:t>выбранный</a:t>
            </a:r>
            <a:r>
              <a:rPr dirty="0"/>
              <a:t> </a:t>
            </a:r>
            <a:r>
              <a:rPr dirty="0" err="1"/>
              <a:t>объект</a:t>
            </a:r>
            <a:r>
              <a:rPr dirty="0"/>
              <a:t> и </a:t>
            </a:r>
            <a:r>
              <a:rPr dirty="0" err="1"/>
              <a:t>его</a:t>
            </a:r>
            <a:r>
              <a:rPr dirty="0"/>
              <a:t> </a:t>
            </a:r>
            <a:r>
              <a:rPr dirty="0" err="1"/>
              <a:t>границы</a:t>
            </a:r>
            <a:r>
              <a:rPr dirty="0"/>
              <a:t>;</a:t>
            </a:r>
          </a:p>
          <a:p>
            <a:pPr lvl="0"/>
            <a:r>
              <a:rPr dirty="0" err="1"/>
              <a:t>сопоставление</a:t>
            </a:r>
            <a:r>
              <a:rPr dirty="0"/>
              <a:t> с </a:t>
            </a:r>
            <a:r>
              <a:rPr dirty="0" err="1"/>
              <a:t>типовым</a:t>
            </a:r>
            <a:r>
              <a:rPr dirty="0"/>
              <a:t> </a:t>
            </a:r>
            <a:r>
              <a:rPr dirty="0" err="1"/>
              <a:t>объектом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обоснование</a:t>
            </a:r>
            <a:r>
              <a:rPr dirty="0"/>
              <a:t> </a:t>
            </a:r>
            <a:r>
              <a:rPr dirty="0" err="1"/>
              <a:t>нетипового</a:t>
            </a:r>
            <a:r>
              <a:rPr dirty="0"/>
              <a:t> </a:t>
            </a:r>
            <a:r>
              <a:rPr dirty="0" err="1"/>
              <a:t>случая</a:t>
            </a:r>
            <a:r>
              <a:rPr dirty="0"/>
              <a:t>;</a:t>
            </a:r>
          </a:p>
          <a:p>
            <a:pPr lvl="0"/>
            <a:r>
              <a:rPr dirty="0" err="1"/>
              <a:t>применённые</a:t>
            </a:r>
            <a:r>
              <a:rPr dirty="0"/>
              <a:t> </a:t>
            </a:r>
            <a:r>
              <a:rPr dirty="0" err="1"/>
              <a:t>показатели</a:t>
            </a:r>
            <a:r>
              <a:rPr dirty="0"/>
              <a:t> и </a:t>
            </a:r>
            <a:r>
              <a:rPr dirty="0" err="1"/>
              <a:t>расчёт</a:t>
            </a:r>
            <a:r>
              <a:rPr dirty="0"/>
              <a:t>;</a:t>
            </a:r>
          </a:p>
          <a:p>
            <a:pPr lvl="0"/>
            <a:r>
              <a:rPr dirty="0" err="1"/>
              <a:t>категорию</a:t>
            </a:r>
            <a:r>
              <a:rPr dirty="0"/>
              <a:t> </a:t>
            </a:r>
            <a:r>
              <a:rPr dirty="0" err="1"/>
              <a:t>либо</a:t>
            </a:r>
            <a:r>
              <a:rPr dirty="0"/>
              <a:t> </a:t>
            </a:r>
            <a:r>
              <a:rPr dirty="0" err="1"/>
              <a:t>обоснование</a:t>
            </a:r>
            <a:r>
              <a:rPr dirty="0"/>
              <a:t> </a:t>
            </a:r>
            <a:r>
              <a:rPr dirty="0" err="1"/>
              <a:t>её</a:t>
            </a:r>
            <a:r>
              <a:rPr dirty="0"/>
              <a:t> </a:t>
            </a:r>
            <a:r>
              <a:rPr dirty="0" err="1"/>
              <a:t>отсутствия</a:t>
            </a:r>
            <a:r>
              <a:rPr dirty="0"/>
              <a:t>;</a:t>
            </a:r>
          </a:p>
          <a:p>
            <a:pPr lvl="0"/>
            <a:r>
              <a:rPr dirty="0" err="1"/>
              <a:t>доказательства</a:t>
            </a:r>
            <a:r>
              <a:rPr dirty="0"/>
              <a:t> и </a:t>
            </a:r>
            <a:r>
              <a:rPr dirty="0" err="1"/>
              <a:t>ограничения</a:t>
            </a:r>
            <a:r>
              <a:rPr dirty="0"/>
              <a:t>;</a:t>
            </a:r>
          </a:p>
          <a:p>
            <a:pPr lvl="0"/>
            <a:r>
              <a:rPr dirty="0" err="1"/>
              <a:t>сведения</a:t>
            </a:r>
            <a:r>
              <a:rPr dirty="0"/>
              <a:t>, </a:t>
            </a:r>
            <a:r>
              <a:rPr dirty="0" err="1"/>
              <a:t>подлежащие</a:t>
            </a:r>
            <a:r>
              <a:rPr dirty="0"/>
              <a:t> </a:t>
            </a:r>
            <a:r>
              <a:rPr dirty="0" err="1"/>
              <a:t>направлению</a:t>
            </a:r>
            <a:r>
              <a:rPr dirty="0"/>
              <a:t>, и </a:t>
            </a:r>
            <a:r>
              <a:rPr dirty="0" err="1"/>
              <a:t>адресата</a:t>
            </a:r>
            <a:r>
              <a:rPr dirty="0"/>
              <a:t>;</a:t>
            </a:r>
          </a:p>
          <a:p>
            <a:pPr lvl="0"/>
            <a:r>
              <a:rPr dirty="0" err="1"/>
              <a:t>владельца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и </a:t>
            </a:r>
            <a:r>
              <a:rPr dirty="0" err="1"/>
              <a:t>дату</a:t>
            </a:r>
            <a:r>
              <a:rPr dirty="0"/>
              <a:t> </a:t>
            </a:r>
            <a:r>
              <a:rPr dirty="0" err="1"/>
              <a:t>пересмотра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i="1" dirty="0" err="1"/>
              <a:t>Учебная</a:t>
            </a:r>
            <a:r>
              <a:rPr i="1" dirty="0"/>
              <a:t> </a:t>
            </a:r>
            <a:r>
              <a:rPr i="1" dirty="0" err="1"/>
              <a:t>карточка</a:t>
            </a:r>
            <a:r>
              <a:rPr i="1" dirty="0"/>
              <a:t> </a:t>
            </a:r>
            <a:r>
              <a:rPr i="1" dirty="0" err="1"/>
              <a:t>не</a:t>
            </a:r>
            <a:r>
              <a:rPr i="1" dirty="0"/>
              <a:t> </a:t>
            </a:r>
            <a:r>
              <a:rPr i="1" dirty="0" err="1"/>
              <a:t>заменяет</a:t>
            </a:r>
            <a:r>
              <a:rPr i="1" dirty="0"/>
              <a:t> </a:t>
            </a:r>
            <a:r>
              <a:rPr i="1" dirty="0" err="1"/>
              <a:t>форму</a:t>
            </a:r>
            <a:r>
              <a:rPr i="1" dirty="0"/>
              <a:t> </a:t>
            </a:r>
            <a:r>
              <a:rPr i="1" dirty="0" err="1"/>
              <a:t>регулятора</a:t>
            </a:r>
            <a:r>
              <a:rPr i="1" dirty="0"/>
              <a:t> и </a:t>
            </a:r>
            <a:r>
              <a:rPr i="1" dirty="0" err="1"/>
              <a:t>не</a:t>
            </a:r>
            <a:r>
              <a:rPr i="1" dirty="0"/>
              <a:t> </a:t>
            </a:r>
            <a:r>
              <a:rPr i="1" dirty="0" err="1"/>
              <a:t>является</a:t>
            </a:r>
            <a:r>
              <a:rPr i="1" dirty="0"/>
              <a:t> </a:t>
            </a:r>
            <a:r>
              <a:rPr i="1" dirty="0" err="1"/>
              <a:t>решением</a:t>
            </a:r>
            <a:r>
              <a:rPr i="1" dirty="0"/>
              <a:t> </a:t>
            </a:r>
            <a:r>
              <a:rPr i="1" dirty="0" err="1"/>
              <a:t>уполномоченного</a:t>
            </a:r>
            <a:r>
              <a:rPr i="1" dirty="0"/>
              <a:t> </a:t>
            </a:r>
            <a:r>
              <a:rPr i="1" dirty="0" err="1"/>
              <a:t>органа</a:t>
            </a:r>
            <a:r>
              <a:rPr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CAAAAA-3975-48B8-B4E5-470E5B4A3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Нетиповой объект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Если объект не совпал с типовым перечнем, нельзя автоматически исключать его из оценки.</a:t>
            </a:r>
          </a:p>
          <a:p>
            <a:pPr marL="0" lvl="0" indent="0">
              <a:buNone/>
            </a:pPr>
            <a:r>
              <a:t>Нужно:</a:t>
            </a:r>
          </a:p>
          <a:p>
            <a:pPr marL="342900" lvl="0" indent="-342900">
              <a:buAutoNum type="arabicPeriod"/>
            </a:pPr>
            <a:r>
              <a:t>зафиксировать результат и основания несопоставимости;</a:t>
            </a:r>
          </a:p>
          <a:p>
            <a:pPr marL="342900" lvl="0" indent="-342900">
              <a:buAutoNum type="arabicPeriod"/>
            </a:pPr>
            <a:r>
              <a:t>проверить, предусмотрен ли действующими правилами специальный порядок для нетиповых или вновь создаваемых объектов;</a:t>
            </a:r>
          </a:p>
          <a:p>
            <a:pPr marL="342900" lvl="0" indent="-342900">
              <a:buAutoNum type="arabicPeriod"/>
            </a:pPr>
            <a:r>
              <a:t>оценить последствия по применимым показателям;</a:t>
            </a:r>
          </a:p>
          <a:p>
            <a:pPr marL="342900" lvl="0" indent="-342900">
              <a:buAutoNum type="arabicPeriod"/>
            </a:pPr>
            <a:r>
              <a:t>оформить требуемые сведения и предложение по уточнению перечня — если это предусмотрено действующей процедурой.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6F4C25-1D51-4160-B5A7-8A3E50DA5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Пересмотр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Пересмотр запускается не только календарной датой.</a:t>
            </a:r>
          </a:p>
          <a:p>
            <a:pPr marL="0" lvl="0" indent="0">
              <a:buNone/>
            </a:pPr>
            <a:r>
              <a:t>Триггеры могут включать:</a:t>
            </a:r>
          </a:p>
          <a:p>
            <a:pPr lvl="0"/>
            <a:r>
              <a:t>изменение границ, функции или владельца объекта;</a:t>
            </a:r>
          </a:p>
          <a:p>
            <a:pPr lvl="0"/>
            <a:r>
              <a:t>изменение пользователей, взаимосвязей или масштаба последствий;</a:t>
            </a:r>
          </a:p>
          <a:p>
            <a:pPr lvl="0"/>
            <a:r>
              <a:t>изменение показателей, правил или отраслевых особенностей;</a:t>
            </a:r>
          </a:p>
          <a:p>
            <a:pPr lvl="0"/>
            <a:r>
              <a:t>создание нового объекта или изменение типового перечня;</a:t>
            </a:r>
          </a:p>
          <a:p>
            <a:pPr lvl="0"/>
            <a:r>
              <a:t>результаты аудита, инцидента или проверки.</a:t>
            </a:r>
          </a:p>
          <a:p>
            <a:pPr marL="0" lvl="0" indent="0">
              <a:buNone/>
            </a:pPr>
            <a:r>
              <a:t>Сроки и состав обязательных триггеров проверяются по действующей редакции нормативных источников.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8FC81E-0DAC-41BD-8985-F46BC2A98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Частые ошибки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Начинать расчёт без подтверждённой применимости и границы объекта.</a:t>
            </a:r>
          </a:p>
          <a:p>
            <a:pPr lvl="0"/>
            <a:r>
              <a:t>Сопоставлять только название системы с названием типового объекта.</a:t>
            </a:r>
          </a:p>
          <a:p>
            <a:pPr lvl="0"/>
            <a:r>
              <a:t>Подменять данные о последствиях оценочным мнением.</a:t>
            </a:r>
          </a:p>
          <a:p>
            <a:pPr lvl="0"/>
            <a:r>
              <a:t>Присваивать категорию при неустранённом существенном пробеле.</a:t>
            </a:r>
          </a:p>
          <a:p>
            <a:pPr lvl="0"/>
            <a:r>
              <a:t>Называть учебную карточку официальным актом.</a:t>
            </a:r>
          </a:p>
          <a:p>
            <a:pPr lvl="0"/>
            <a:r>
              <a:t>Считать перечень единственным доказательством без анализа фактов.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BFF1D18-1685-4A97-9A31-5B36F11B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входные</a:t>
            </a:r>
            <a:r>
              <a:rPr b="1" dirty="0"/>
              <a:t> </a:t>
            </a:r>
            <a:r>
              <a:rPr b="1" dirty="0" err="1"/>
              <a:t>факты</a:t>
            </a:r>
            <a:r>
              <a:rPr b="1" dirty="0"/>
              <a:t> → </a:t>
            </a:r>
            <a:r>
              <a:rPr b="1" dirty="0" err="1"/>
              <a:t>сопоставление</a:t>
            </a:r>
            <a:r>
              <a:rPr b="1" dirty="0"/>
              <a:t> → </a:t>
            </a:r>
            <a:r>
              <a:rPr b="1" dirty="0" err="1"/>
              <a:t>показатели</a:t>
            </a:r>
            <a:r>
              <a:rPr b="1" dirty="0"/>
              <a:t> </a:t>
            </a:r>
            <a:r>
              <a:rPr b="1" dirty="0" err="1"/>
              <a:t>последствий</a:t>
            </a:r>
            <a:r>
              <a:rPr b="1" dirty="0"/>
              <a:t> → </a:t>
            </a:r>
            <a:r>
              <a:rPr b="1" dirty="0" err="1"/>
              <a:t>решение</a:t>
            </a:r>
            <a:r>
              <a:rPr b="1" dirty="0"/>
              <a:t> → </a:t>
            </a:r>
            <a:r>
              <a:rPr b="1" dirty="0" err="1"/>
              <a:t>доказательства</a:t>
            </a:r>
            <a:r>
              <a:rPr b="1" dirty="0"/>
              <a:t> → </a:t>
            </a:r>
            <a:r>
              <a:rPr b="1" dirty="0" err="1"/>
              <a:t>пересмотр</a:t>
            </a:r>
            <a:endParaRPr b="1" dirty="0"/>
          </a:p>
          <a:p>
            <a:pPr marL="0" lvl="0" indent="0">
              <a:buNone/>
            </a:pPr>
            <a:r>
              <a:rPr dirty="0" err="1"/>
              <a:t>Категорирование</a:t>
            </a:r>
            <a:r>
              <a:rPr dirty="0"/>
              <a:t> </a:t>
            </a:r>
            <a:r>
              <a:rPr dirty="0" err="1"/>
              <a:t>становится</a:t>
            </a:r>
            <a:r>
              <a:rPr dirty="0"/>
              <a:t> </a:t>
            </a:r>
            <a:r>
              <a:rPr dirty="0" err="1"/>
              <a:t>воспроизводимым</a:t>
            </a:r>
            <a:r>
              <a:rPr dirty="0"/>
              <a:t>, </a:t>
            </a:r>
            <a:r>
              <a:rPr dirty="0" err="1"/>
              <a:t>когда</a:t>
            </a:r>
            <a:r>
              <a:rPr dirty="0"/>
              <a:t> </a:t>
            </a:r>
            <a:r>
              <a:rPr dirty="0" err="1"/>
              <a:t>другой</a:t>
            </a:r>
            <a:r>
              <a:rPr dirty="0"/>
              <a:t> </a:t>
            </a:r>
            <a:r>
              <a:rPr dirty="0" err="1"/>
              <a:t>специалист</a:t>
            </a:r>
            <a:r>
              <a:rPr dirty="0"/>
              <a:t> </a:t>
            </a:r>
            <a:r>
              <a:rPr dirty="0" err="1"/>
              <a:t>может</a:t>
            </a:r>
            <a:r>
              <a:rPr dirty="0"/>
              <a:t> </a:t>
            </a:r>
            <a:r>
              <a:rPr dirty="0" err="1"/>
              <a:t>проверить</a:t>
            </a:r>
            <a:r>
              <a:rPr dirty="0"/>
              <a:t> </a:t>
            </a:r>
            <a:r>
              <a:rPr dirty="0" err="1"/>
              <a:t>исходные</a:t>
            </a:r>
            <a:r>
              <a:rPr dirty="0"/>
              <a:t> </a:t>
            </a:r>
            <a:r>
              <a:rPr dirty="0" err="1"/>
              <a:t>данные</a:t>
            </a:r>
            <a:r>
              <a:rPr dirty="0"/>
              <a:t>, </a:t>
            </a:r>
            <a:r>
              <a:rPr dirty="0" err="1"/>
              <a:t>ход</a:t>
            </a:r>
            <a:r>
              <a:rPr dirty="0"/>
              <a:t> </a:t>
            </a:r>
            <a:r>
              <a:rPr dirty="0" err="1"/>
              <a:t>рассуждения</a:t>
            </a:r>
            <a:r>
              <a:rPr dirty="0"/>
              <a:t> и </a:t>
            </a:r>
            <a:r>
              <a:rPr dirty="0" err="1"/>
              <a:t>условия</a:t>
            </a:r>
            <a:r>
              <a:rPr dirty="0"/>
              <a:t> </a:t>
            </a:r>
            <a:r>
              <a:rPr dirty="0" err="1"/>
              <a:t>изменения</a:t>
            </a:r>
            <a:r>
              <a:rPr dirty="0"/>
              <a:t> </a:t>
            </a:r>
            <a:r>
              <a:rPr dirty="0" err="1"/>
              <a:t>результата</a:t>
            </a:r>
            <a:r>
              <a:rPr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AB0B3ED-339B-4AB3-90F2-DD0712AE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12</a:t>
            </a:fld>
            <a:endParaRPr lang="en-US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066BE61-04DE-44A0-9F39-A2C49AB6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Общий порядок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Какие элементы паспорта применимости являются обязательным входом в работу по категорированию и почему?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Почему совпадение названия системы с названием типового объекта не является достаточным сопоставлением?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Как отличить вывод «совпадение не подтверждено» от вывода «недостаточно данных»? Приведите пример для каждого случая.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4.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Какие источники могут подтверждать исходные данные для оценки последствий компьютерного инцидента? Что именно должен позволять проверить источник?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5.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Почему учебная карточка решения о категорировании не заменяет официальный акт или решение уполномоченного органа?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6.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Паспорт применимости подтверждает организацию и наличие АСУ, но не содержит схемы интерфейсов и сведений о процессах, зависящих от АСУ. Можно ли начинать расчёт показателей? Сформулируйте обоснованный следующий шаг.</a:t>
            </a:r>
          </a:p>
          <a:p>
            <a:r>
              <a:rPr lang="ru-RU" sz="1600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7.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Объект не совпадает с типовым перечнем по функции. Какие четыре действия должны быть сделаны до вывода об исключении объекта из дальнейшей оценки?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AB0B3ED-339B-4AB3-90F2-DD0712AE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13</a:t>
            </a:fld>
            <a:endParaRPr lang="en-US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066BE61-04DE-44A0-9F39-A2C49AB6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</a:p>
        </p:txBody>
      </p:sp>
    </p:spTree>
    <p:extLst>
      <p:ext uri="{BB962C8B-B14F-4D97-AF65-F5344CB8AC3E}">
        <p14:creationId xmlns:p14="http://schemas.microsoft.com/office/powerpoint/2010/main" val="1474346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934</Words>
  <Application>Microsoft Office PowerPoint</Application>
  <PresentationFormat>Экран (16:9)</PresentationFormat>
  <Paragraphs>125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Лекция 3. Категорирование:  доказательное решение и пересмотр</vt:lpstr>
      <vt:lpstr>Результат категорирования</vt:lpstr>
      <vt:lpstr>Презентация PowerPoint</vt:lpstr>
      <vt:lpstr>Нормативная карта</vt:lpstr>
      <vt:lpstr>Шаг 1. Проверка входа</vt:lpstr>
      <vt:lpstr>Шаг 2. Сопоставление с перечнем</vt:lpstr>
      <vt:lpstr>Шаг 3. Последствия и показатели</vt:lpstr>
      <vt:lpstr>Шаг 4. Решение и сведения</vt:lpstr>
      <vt:lpstr>Нетиповой объект</vt:lpstr>
      <vt:lpstr>Пересмотр</vt:lpstr>
      <vt:lpstr>Частые ошибки</vt:lpstr>
      <vt:lpstr>Общий порядок</vt:lpstr>
      <vt:lpstr>Вопросы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Office PowerPoint</Application>
  <PresentationFormat>Экран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3. Категорирование:  доказательное решение и пересмотр</dc:title>
  <dc:creator/>
  <cp:keywords/>
  <cp:lastModifiedBy>RAA</cp:lastModifiedBy>
  <cp:revision>6</cp:revision>
  <dcterms:created xsi:type="dcterms:W3CDTF">2026-10-06T13:00:36Z</dcterms:created>
  <dcterms:modified xsi:type="dcterms:W3CDTF">2026-10-20T14:53:51Z</dcterms:modified>
</cp:coreProperties>
</file>