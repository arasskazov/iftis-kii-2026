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3DA60-2959-4A4C-AEB5-6F3C699F495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5B7F8-7199-4E99-A186-F572C4FC9B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915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BF32EBF7-C8A6-42CD-90E8-59FCA44C5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160158" y="-16565"/>
            <a:ext cx="1840921" cy="1860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A708-F88E-4D4A-AA18-9822072AA83A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665E-D042-4320-8764-7F6D2C631042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7B14A-EB31-4ABC-A90E-E5FA6FC4B337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469EBB0B-36EA-4B29-9BBE-DAD46164C2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46296" y="75480"/>
            <a:ext cx="1787912" cy="18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21F6-E92E-4124-BA88-23DB56BDC73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75CD-5D83-4207-AA78-26FF825B5366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90211-F5D9-4488-9A7A-BC0BB5A4363D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FCC64FF2-3323-4E69-826A-7400014FD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220282" y="524552"/>
            <a:ext cx="4332918" cy="43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F43D-38FD-4860-9F64-FCA28DD4DE7D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550D0-C3AA-466C-84CC-A16A28CB0C1D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98D09-CFD4-4F76-B3E4-280F6132324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A44B4-AB95-4C7C-9903-AD6CB2DF26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83AA2-485C-4307-8F76-12519BBFCD67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33733" cy="45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95130"/>
            <a:ext cx="8229600" cy="3799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DFEDB-C93A-467E-8F3E-5CFFFC195238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1" descr="/mnt/data/asset_icons/image3.png">
            <a:extLst>
              <a:ext uri="{FF2B5EF4-FFF2-40B4-BE49-F238E27FC236}">
                <a16:creationId xmlns:a16="http://schemas.microsoft.com/office/drawing/2014/main" id="{07B1F67F-77AB-4D11-A16B-35A1040E62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90933" y="138406"/>
            <a:ext cx="1102360" cy="45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ru-RU" b="1" dirty="0"/>
              <a:t>Лекция 3. Категорирование:</a:t>
            </a:r>
            <a:br>
              <a:rPr lang="ru-RU" b="1" dirty="0"/>
            </a:br>
            <a:r>
              <a:rPr lang="ru-RU" b="1" dirty="0"/>
              <a:t> доказательное решение и пересмотр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17CFBF1-33D2-4F55-A998-5F1D186BF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E7D76E-1FE5-4F1F-B7C9-008FAB28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Результат категорирования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229600" cy="631000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Категорирование</a:t>
            </a:r>
            <a:r>
              <a:rPr dirty="0"/>
              <a:t> </a:t>
            </a:r>
            <a:r>
              <a:rPr lang="ru-RU" dirty="0"/>
              <a:t>- э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управляемое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, в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фиксируются</a:t>
            </a:r>
            <a:r>
              <a:rPr dirty="0"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383585"/>
              </p:ext>
            </p:extLst>
          </p:nvPr>
        </p:nvGraphicFramePr>
        <p:xfrm>
          <a:off x="457200" y="1418400"/>
          <a:ext cx="8229600" cy="3407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/>
                        <a:t>Элемент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Вопрос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Объект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Что именно оценивается и где его граница?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Почему объект рассматривается в процедуре?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Последствия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Какие показатели могут быть достигнуты?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Доказательства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Чем подтверждены исходные данные?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6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Какая категория присвоена либо почему она не присваивается?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Пересмотр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/>
                        <a:t>Что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изменит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вывод</a:t>
                      </a:r>
                      <a:r>
                        <a:rPr sz="1600" dirty="0"/>
                        <a:t> и </a:t>
                      </a:r>
                      <a:r>
                        <a:rPr sz="1600" dirty="0" err="1"/>
                        <a:t>когда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его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проверить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заново</a:t>
                      </a:r>
                      <a:r>
                        <a:rPr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D802D1-4A46-4757-A8D7-F63D62F6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Нормативная карта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Роль в работе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Федеральный закон о КИИ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устанавливает рамку категорирования и полномочия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Правительственные правила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описывают процедуру, критерии и представление сведений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Типовые отраслевые перечни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направляют сопоставление объектов по функциям и сфере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Отраслевые особенности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уточняют процедуру и показатели для отдельных сфер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Внутренние 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подтверждают границы, функции, пользователей и последствия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32200"/>
            <a:ext cx="8229600" cy="825500"/>
          </a:xfrm>
        </p:spPr>
        <p:txBody>
          <a:bodyPr/>
          <a:lstStyle/>
          <a:p>
            <a:pPr marL="0" lvl="0" indent="0">
              <a:buNone/>
            </a:pPr>
            <a:r>
              <a:t>Перед применением проверяют редакцию, дату действия и адресата каждого источника.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B16315-BD50-4A91-8335-77D165AB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Шаг 1. Проверка входа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Используйте</a:t>
            </a:r>
            <a:r>
              <a:rPr dirty="0"/>
              <a:t> </a:t>
            </a: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применимости</a:t>
            </a:r>
            <a:r>
              <a:rPr dirty="0"/>
              <a:t>:</a:t>
            </a:r>
          </a:p>
          <a:p>
            <a:pPr marL="342900" lvl="0" indent="-342900">
              <a:buAutoNum type="arabicPeriod"/>
            </a:pPr>
            <a:r>
              <a:rPr dirty="0" err="1"/>
              <a:t>субъект</a:t>
            </a:r>
            <a:r>
              <a:rPr dirty="0"/>
              <a:t> и </a:t>
            </a:r>
            <a:r>
              <a:rPr dirty="0" err="1"/>
              <a:t>основание</a:t>
            </a:r>
            <a:r>
              <a:rPr dirty="0"/>
              <a:t> </a:t>
            </a:r>
            <a:r>
              <a:rPr dirty="0" err="1"/>
              <a:t>применимости</a:t>
            </a:r>
            <a:r>
              <a:rPr dirty="0"/>
              <a:t> </a:t>
            </a:r>
            <a:r>
              <a:rPr dirty="0" err="1"/>
              <a:t>подтверждены</a:t>
            </a:r>
            <a:r>
              <a:rPr dirty="0"/>
              <a:t>;</a:t>
            </a:r>
          </a:p>
          <a:p>
            <a:pPr marL="342900" lvl="0" indent="-342900">
              <a:buAutoNum type="arabicPeriod"/>
            </a:pP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описан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ИС,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АСУ;</a:t>
            </a:r>
          </a:p>
          <a:p>
            <a:pPr marL="342900" lvl="0" indent="-342900">
              <a:buAutoNum type="arabicPeriod"/>
            </a:pPr>
            <a:r>
              <a:rPr dirty="0" err="1"/>
              <a:t>установлены</a:t>
            </a:r>
            <a:r>
              <a:rPr dirty="0"/>
              <a:t> </a:t>
            </a:r>
            <a:r>
              <a:rPr dirty="0" err="1"/>
              <a:t>владелец</a:t>
            </a:r>
            <a:r>
              <a:rPr dirty="0"/>
              <a:t>, </a:t>
            </a:r>
            <a:r>
              <a:rPr dirty="0" err="1"/>
              <a:t>граница</a:t>
            </a:r>
            <a:r>
              <a:rPr dirty="0"/>
              <a:t> и </a:t>
            </a:r>
            <a:r>
              <a:rPr dirty="0" err="1"/>
              <a:t>функция</a:t>
            </a:r>
            <a:r>
              <a:rPr dirty="0"/>
              <a:t>;</a:t>
            </a:r>
          </a:p>
          <a:p>
            <a:pPr marL="342900" lvl="0" indent="-342900">
              <a:buAutoNum type="arabicPeriod"/>
            </a:pPr>
            <a:r>
              <a:rPr dirty="0" err="1"/>
              <a:t>источники</a:t>
            </a:r>
            <a:r>
              <a:rPr dirty="0"/>
              <a:t> </a:t>
            </a:r>
            <a:r>
              <a:rPr dirty="0" err="1"/>
              <a:t>фактов</a:t>
            </a:r>
            <a:r>
              <a:rPr dirty="0"/>
              <a:t> </a:t>
            </a:r>
            <a:r>
              <a:rPr dirty="0" err="1"/>
              <a:t>известны</a:t>
            </a:r>
            <a:r>
              <a:rPr dirty="0"/>
              <a:t>;</a:t>
            </a:r>
          </a:p>
          <a:p>
            <a:pPr marL="342900" lvl="0" indent="-342900">
              <a:buAutoNum type="arabicPeriod"/>
            </a:pPr>
            <a:r>
              <a:rPr dirty="0" err="1"/>
              <a:t>неустранённые</a:t>
            </a:r>
            <a:r>
              <a:rPr dirty="0"/>
              <a:t> </a:t>
            </a:r>
            <a:r>
              <a:rPr dirty="0" err="1"/>
              <a:t>пробелы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искажают</a:t>
            </a:r>
            <a:r>
              <a:rPr dirty="0"/>
              <a:t> </a:t>
            </a:r>
            <a:r>
              <a:rPr dirty="0" err="1"/>
              <a:t>расчёт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условие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выполнено</a:t>
            </a:r>
            <a:r>
              <a:rPr dirty="0"/>
              <a:t>, </a:t>
            </a:r>
            <a:r>
              <a:rPr dirty="0" err="1"/>
              <a:t>результат</a:t>
            </a:r>
            <a:r>
              <a:rPr lang="ru-RU" dirty="0"/>
              <a:t>:</a:t>
            </a:r>
            <a:r>
              <a:rPr dirty="0"/>
              <a:t> 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уточнений</a:t>
            </a:r>
            <a:r>
              <a:rPr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54475E-B5C2-45CA-909C-CA8736E4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Шаг 2. Сопоставление с перечнем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Сопоставляйте объект не по одному названию, а по совокупности признаков:</a:t>
            </a:r>
          </a:p>
          <a:p>
            <a:pPr lvl="0"/>
            <a:r>
              <a:t>виду объекта;</a:t>
            </a:r>
          </a:p>
          <a:p>
            <a:pPr lvl="0"/>
            <a:r>
              <a:t>функции или процессу;</a:t>
            </a:r>
          </a:p>
          <a:p>
            <a:pPr lvl="0"/>
            <a:r>
              <a:t>сфере деятельности;</a:t>
            </a:r>
          </a:p>
          <a:p>
            <a:pPr lvl="0"/>
            <a:r>
              <a:t>признакам, указанным в действующей версии типового перечня;</a:t>
            </a:r>
          </a:p>
          <a:p>
            <a:pPr lvl="0"/>
            <a:r>
              <a:t>отраслевым особенностям, если они применимы.</a:t>
            </a:r>
          </a:p>
          <a:p>
            <a:pPr marL="0" lvl="0" indent="0">
              <a:buNone/>
            </a:pPr>
            <a:r>
              <a:t>Результат: совпадение подтверждено / не подтверждено / недостаточно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55B719-F4A5-49CC-91B5-4CABA686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Шаг 3. Последствия и показатели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7400"/>
            <a:ext cx="8229600" cy="711200"/>
          </a:xfrm>
        </p:spPr>
        <p:txBody>
          <a:bodyPr/>
          <a:lstStyle/>
          <a:p>
            <a:pPr marL="0" lvl="0" indent="0">
              <a:buNone/>
            </a:pPr>
            <a:r>
              <a:t>Показатель применяют к возможным последствиям компьютерного инцидента в границах объекта.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82296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Примеры источников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Пользователи и получатели услуги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договоры, реестры, отчёты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Параметры функционирования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регламенты, SLA, технологические документы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Возможный ущерб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расчёты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планы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непрерывности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акты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оценки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Связанные процессы и интерфейсы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схемы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журналы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изменений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интервью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владельцев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733800"/>
            <a:ext cx="8229600" cy="711200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Правило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итоговой</a:t>
            </a:r>
            <a:r>
              <a:rPr dirty="0"/>
              <a:t> </a:t>
            </a:r>
            <a:r>
              <a:rPr dirty="0" err="1"/>
              <a:t>категории</a:t>
            </a:r>
            <a:r>
              <a:rPr dirty="0"/>
              <a:t> и </a:t>
            </a:r>
            <a:r>
              <a:rPr dirty="0" err="1"/>
              <a:t>детали</a:t>
            </a:r>
            <a:r>
              <a:rPr dirty="0"/>
              <a:t> </a:t>
            </a:r>
            <a:r>
              <a:rPr dirty="0" err="1"/>
              <a:t>расчёта</a:t>
            </a:r>
            <a:r>
              <a:rPr dirty="0"/>
              <a:t> </a:t>
            </a:r>
            <a:r>
              <a:rPr dirty="0" err="1"/>
              <a:t>проверяются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действующей</a:t>
            </a:r>
            <a:r>
              <a:rPr dirty="0"/>
              <a:t> </a:t>
            </a:r>
            <a:r>
              <a:rPr dirty="0" err="1"/>
              <a:t>редакции</a:t>
            </a:r>
            <a:r>
              <a:rPr dirty="0"/>
              <a:t> </a:t>
            </a:r>
            <a:r>
              <a:rPr dirty="0" err="1"/>
              <a:t>применимого</a:t>
            </a:r>
            <a:r>
              <a:rPr dirty="0"/>
              <a:t> </a:t>
            </a:r>
            <a:r>
              <a:rPr dirty="0" err="1"/>
              <a:t>акта</a:t>
            </a:r>
            <a:r>
              <a:rPr dirty="0"/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E0ADFA-F759-40CA-87DE-451568AD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Шаг 4. Решение и сведения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 err="1"/>
              <a:t>Карточка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:</a:t>
            </a:r>
          </a:p>
          <a:p>
            <a:pPr lvl="0"/>
            <a:r>
              <a:rPr dirty="0" err="1"/>
              <a:t>выбранный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;</a:t>
            </a:r>
          </a:p>
          <a:p>
            <a:pPr lvl="0"/>
            <a:r>
              <a:rPr dirty="0" err="1"/>
              <a:t>сопоставление</a:t>
            </a:r>
            <a:r>
              <a:rPr dirty="0"/>
              <a:t> с </a:t>
            </a:r>
            <a:r>
              <a:rPr dirty="0" err="1"/>
              <a:t>типовым</a:t>
            </a:r>
            <a:r>
              <a:rPr dirty="0"/>
              <a:t> </a:t>
            </a:r>
            <a:r>
              <a:rPr dirty="0" err="1"/>
              <a:t>объектом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обоснование</a:t>
            </a:r>
            <a:r>
              <a:rPr dirty="0"/>
              <a:t> </a:t>
            </a:r>
            <a:r>
              <a:rPr dirty="0" err="1"/>
              <a:t>нетипового</a:t>
            </a:r>
            <a:r>
              <a:rPr dirty="0"/>
              <a:t> </a:t>
            </a:r>
            <a:r>
              <a:rPr dirty="0" err="1"/>
              <a:t>случая</a:t>
            </a:r>
            <a:r>
              <a:rPr dirty="0"/>
              <a:t>;</a:t>
            </a:r>
          </a:p>
          <a:p>
            <a:pPr lvl="0"/>
            <a:r>
              <a:rPr dirty="0" err="1"/>
              <a:t>применённые</a:t>
            </a:r>
            <a:r>
              <a:rPr dirty="0"/>
              <a:t> </a:t>
            </a:r>
            <a:r>
              <a:rPr dirty="0" err="1"/>
              <a:t>показатели</a:t>
            </a:r>
            <a:r>
              <a:rPr dirty="0"/>
              <a:t> и </a:t>
            </a:r>
            <a:r>
              <a:rPr dirty="0" err="1"/>
              <a:t>расчёт</a:t>
            </a:r>
            <a:r>
              <a:rPr dirty="0"/>
              <a:t>;</a:t>
            </a:r>
          </a:p>
          <a:p>
            <a:pPr lvl="0"/>
            <a:r>
              <a:rPr dirty="0" err="1"/>
              <a:t>категорию</a:t>
            </a:r>
            <a:r>
              <a:rPr dirty="0"/>
              <a:t> </a:t>
            </a:r>
            <a:r>
              <a:rPr dirty="0" err="1"/>
              <a:t>либо</a:t>
            </a:r>
            <a:r>
              <a:rPr dirty="0"/>
              <a:t> </a:t>
            </a:r>
            <a:r>
              <a:rPr dirty="0" err="1"/>
              <a:t>обоснование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отсутствия</a:t>
            </a:r>
            <a:r>
              <a:rPr dirty="0"/>
              <a:t>;</a:t>
            </a:r>
          </a:p>
          <a:p>
            <a:pPr lvl="0"/>
            <a:r>
              <a:rPr dirty="0" err="1"/>
              <a:t>доказательства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;</a:t>
            </a:r>
          </a:p>
          <a:p>
            <a:pPr lvl="0"/>
            <a:r>
              <a:rPr dirty="0" err="1"/>
              <a:t>сведения</a:t>
            </a:r>
            <a:r>
              <a:rPr dirty="0"/>
              <a:t>, </a:t>
            </a:r>
            <a:r>
              <a:rPr dirty="0" err="1"/>
              <a:t>подлежащие</a:t>
            </a:r>
            <a:r>
              <a:rPr dirty="0"/>
              <a:t> </a:t>
            </a:r>
            <a:r>
              <a:rPr dirty="0" err="1"/>
              <a:t>направлению</a:t>
            </a:r>
            <a:r>
              <a:rPr dirty="0"/>
              <a:t>, и </a:t>
            </a:r>
            <a:r>
              <a:rPr dirty="0" err="1"/>
              <a:t>адресата</a:t>
            </a:r>
            <a:r>
              <a:rPr dirty="0"/>
              <a:t>;</a:t>
            </a:r>
          </a:p>
          <a:p>
            <a:pPr lvl="0"/>
            <a:r>
              <a:rPr dirty="0" err="1"/>
              <a:t>владельца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и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пересмотра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i="1" dirty="0" err="1"/>
              <a:t>Учебная</a:t>
            </a:r>
            <a:r>
              <a:rPr i="1" dirty="0"/>
              <a:t> </a:t>
            </a:r>
            <a:r>
              <a:rPr i="1" dirty="0" err="1"/>
              <a:t>карточка</a:t>
            </a:r>
            <a:r>
              <a:rPr i="1" dirty="0"/>
              <a:t> </a:t>
            </a:r>
            <a:r>
              <a:rPr i="1" dirty="0" err="1"/>
              <a:t>не</a:t>
            </a:r>
            <a:r>
              <a:rPr i="1" dirty="0"/>
              <a:t> </a:t>
            </a:r>
            <a:r>
              <a:rPr i="1" dirty="0" err="1"/>
              <a:t>заменяет</a:t>
            </a:r>
            <a:r>
              <a:rPr i="1" dirty="0"/>
              <a:t> </a:t>
            </a:r>
            <a:r>
              <a:rPr i="1" dirty="0" err="1"/>
              <a:t>форму</a:t>
            </a:r>
            <a:r>
              <a:rPr i="1" dirty="0"/>
              <a:t> </a:t>
            </a:r>
            <a:r>
              <a:rPr i="1" dirty="0" err="1"/>
              <a:t>регулятора</a:t>
            </a:r>
            <a:r>
              <a:rPr i="1" dirty="0"/>
              <a:t> и </a:t>
            </a:r>
            <a:r>
              <a:rPr i="1" dirty="0" err="1"/>
              <a:t>не</a:t>
            </a:r>
            <a:r>
              <a:rPr i="1" dirty="0"/>
              <a:t> </a:t>
            </a:r>
            <a:r>
              <a:rPr i="1" dirty="0" err="1"/>
              <a:t>является</a:t>
            </a:r>
            <a:r>
              <a:rPr i="1" dirty="0"/>
              <a:t> </a:t>
            </a:r>
            <a:r>
              <a:rPr i="1" dirty="0" err="1"/>
              <a:t>решением</a:t>
            </a:r>
            <a:r>
              <a:rPr i="1" dirty="0"/>
              <a:t> </a:t>
            </a:r>
            <a:r>
              <a:rPr i="1" dirty="0" err="1"/>
              <a:t>уполномоченного</a:t>
            </a:r>
            <a:r>
              <a:rPr i="1" dirty="0"/>
              <a:t> </a:t>
            </a:r>
            <a:r>
              <a:rPr i="1" dirty="0" err="1"/>
              <a:t>органа</a:t>
            </a:r>
            <a:r>
              <a:rPr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CAAAAA-3975-48B8-B4E5-470E5B4A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Нетиповой объект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Если объект не совпал с типовым перечнем, нельзя автоматически исключать его из оценки.</a:t>
            </a:r>
          </a:p>
          <a:p>
            <a:pPr marL="0" lvl="0" indent="0">
              <a:buNone/>
            </a:pPr>
            <a:r>
              <a:t>Нужно:</a:t>
            </a:r>
          </a:p>
          <a:p>
            <a:pPr marL="342900" lvl="0" indent="-342900">
              <a:buAutoNum type="arabicPeriod"/>
            </a:pPr>
            <a:r>
              <a:t>зафиксировать результат и основания несопоставимости;</a:t>
            </a:r>
          </a:p>
          <a:p>
            <a:pPr marL="342900" lvl="0" indent="-342900">
              <a:buAutoNum type="arabicPeriod"/>
            </a:pPr>
            <a:r>
              <a:t>проверить, предусмотрен ли действующими правилами специальный порядок для нетиповых или вновь создаваемых объектов;</a:t>
            </a:r>
          </a:p>
          <a:p>
            <a:pPr marL="342900" lvl="0" indent="-342900">
              <a:buAutoNum type="arabicPeriod"/>
            </a:pPr>
            <a:r>
              <a:t>оценить последствия по применимым показателям;</a:t>
            </a:r>
          </a:p>
          <a:p>
            <a:pPr marL="342900" lvl="0" indent="-342900">
              <a:buAutoNum type="arabicPeriod"/>
            </a:pPr>
            <a:r>
              <a:t>оформить требуемые сведения и предложение по уточнению перечня — если это предусмотрено действующей процедурой.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6F4C25-1D51-4160-B5A7-8A3E50DA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Пересмотр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Пересмотр запускается не только календарной датой.</a:t>
            </a:r>
          </a:p>
          <a:p>
            <a:pPr marL="0" lvl="0" indent="0">
              <a:buNone/>
            </a:pPr>
            <a:r>
              <a:t>Триггеры могут включать:</a:t>
            </a:r>
          </a:p>
          <a:p>
            <a:pPr lvl="0"/>
            <a:r>
              <a:t>изменение границ, функции или владельца объекта;</a:t>
            </a:r>
          </a:p>
          <a:p>
            <a:pPr lvl="0"/>
            <a:r>
              <a:t>изменение пользователей, взаимосвязей или масштаба последствий;</a:t>
            </a:r>
          </a:p>
          <a:p>
            <a:pPr lvl="0"/>
            <a:r>
              <a:t>изменение показателей, правил или отраслевых особенностей;</a:t>
            </a:r>
          </a:p>
          <a:p>
            <a:pPr lvl="0"/>
            <a:r>
              <a:t>создание нового объекта или изменение типового перечня;</a:t>
            </a:r>
          </a:p>
          <a:p>
            <a:pPr lvl="0"/>
            <a:r>
              <a:t>результаты аудита, инцидента или проверки.</a:t>
            </a:r>
          </a:p>
          <a:p>
            <a:pPr marL="0" lvl="0" indent="0">
              <a:buNone/>
            </a:pPr>
            <a:r>
              <a:t>Сроки и состав обязательных триггеров проверяются по действующей редакции нормативных источников.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8FC81E-0DAC-41BD-8985-F46BC2A9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Частые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Начинать расчёт без подтверждённой применимости и границы объекта.</a:t>
            </a:r>
          </a:p>
          <a:p>
            <a:pPr lvl="0"/>
            <a:r>
              <a:t>Сопоставлять только название системы с названием типового объекта.</a:t>
            </a:r>
          </a:p>
          <a:p>
            <a:pPr lvl="0"/>
            <a:r>
              <a:t>Подменять данные о последствиях оценочным мнением.</a:t>
            </a:r>
          </a:p>
          <a:p>
            <a:pPr lvl="0"/>
            <a:r>
              <a:t>Присваивать категорию при неустранённом существенном пробеле.</a:t>
            </a:r>
          </a:p>
          <a:p>
            <a:pPr lvl="0"/>
            <a:r>
              <a:t>Называть учебную карточку официальным актом.</a:t>
            </a:r>
          </a:p>
          <a:p>
            <a:pPr lvl="0"/>
            <a:r>
              <a:t>Считать перечень единственным доказательством без анализа фактов.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FF1D18-1685-4A97-9A31-5B36F11B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входные</a:t>
            </a:r>
            <a:r>
              <a:rPr b="1" dirty="0"/>
              <a:t> </a:t>
            </a:r>
            <a:r>
              <a:rPr b="1" dirty="0" err="1"/>
              <a:t>факты</a:t>
            </a:r>
            <a:r>
              <a:rPr b="1" dirty="0"/>
              <a:t> → </a:t>
            </a:r>
            <a:r>
              <a:rPr b="1" dirty="0" err="1"/>
              <a:t>сопоставление</a:t>
            </a:r>
            <a:r>
              <a:rPr b="1" dirty="0"/>
              <a:t> → </a:t>
            </a:r>
            <a:r>
              <a:rPr b="1" dirty="0" err="1"/>
              <a:t>показатели</a:t>
            </a:r>
            <a:r>
              <a:rPr b="1" dirty="0"/>
              <a:t> </a:t>
            </a:r>
            <a:r>
              <a:rPr b="1" dirty="0" err="1"/>
              <a:t>последствий</a:t>
            </a:r>
            <a:r>
              <a:rPr b="1" dirty="0"/>
              <a:t> → </a:t>
            </a:r>
            <a:r>
              <a:rPr b="1" dirty="0" err="1"/>
              <a:t>решение</a:t>
            </a:r>
            <a:r>
              <a:rPr b="1" dirty="0"/>
              <a:t> → </a:t>
            </a:r>
            <a:r>
              <a:rPr b="1" dirty="0" err="1"/>
              <a:t>доказательства</a:t>
            </a:r>
            <a:r>
              <a:rPr b="1" dirty="0"/>
              <a:t> → </a:t>
            </a:r>
            <a:r>
              <a:rPr b="1" dirty="0" err="1"/>
              <a:t>пересмотр</a:t>
            </a:r>
            <a:endParaRPr b="1" dirty="0"/>
          </a:p>
          <a:p>
            <a:pPr marL="0" lvl="0" indent="0">
              <a:buNone/>
            </a:pPr>
            <a:r>
              <a:rPr dirty="0" err="1"/>
              <a:t>Категорирование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воспроизводимым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специалист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исходные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</a:t>
            </a:r>
            <a:r>
              <a:rPr dirty="0" err="1"/>
              <a:t>ход</a:t>
            </a:r>
            <a:r>
              <a:rPr dirty="0"/>
              <a:t> </a:t>
            </a:r>
            <a:r>
              <a:rPr dirty="0" err="1"/>
              <a:t>рассуждения</a:t>
            </a:r>
            <a:r>
              <a:rPr dirty="0"/>
              <a:t> и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B0B3ED-339B-4AB3-90F2-DD0712AE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066BE61-04DE-44A0-9F39-A2C49AB6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порядок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Какие элементы паспорта применимости являются обязательным входом в работу по категорированию и почему?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Почему совпадение названия системы с названием типового объекта не является достаточным сопоставлением?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Как отличить вывод «совпадение не подтверждено» от вывода «недостаточно данных»? Приведите пример для каждого случая.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Какие источники могут подтверждать исходные данные для оценки последствий компьютерного инцидента? Что именно должен позволять проверить источник?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Почему учебная карточка решения о категорировании не заменяет официальный акт или решение уполномоченного органа?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Паспорт применимости подтверждает организацию и наличие АСУ, но не содержит схемы интерфейсов и сведений о процессах, зависящих от АСУ. Можно ли начинать расчёт показателей? Сформулируйте обоснованный следующий шаг.</a:t>
            </a:r>
          </a:p>
          <a:p>
            <a:r>
              <a:rPr lang="ru-RU" sz="16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7.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Объект не совпадает с типовым перечнем по функции. Какие четыре действия должны быть сделаны до вывода об исключении объекта из дальнейшей оценки?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B0B3ED-339B-4AB3-90F2-DD0712AE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066BE61-04DE-44A0-9F39-A2C49AB64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47434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755</Words>
  <Application>Microsoft Office PowerPoint</Application>
  <PresentationFormat>Экран (16:9)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Лекция 3. Категорирование:  доказательное решение и пересмотр</vt:lpstr>
      <vt:lpstr>Результат категорирования</vt:lpstr>
      <vt:lpstr>Нормативная карта</vt:lpstr>
      <vt:lpstr>Шаг 1. Проверка входа</vt:lpstr>
      <vt:lpstr>Шаг 2. Сопоставление с перечнем</vt:lpstr>
      <vt:lpstr>Шаг 3. Последствия и показатели</vt:lpstr>
      <vt:lpstr>Шаг 4. Решение и сведения</vt:lpstr>
      <vt:lpstr>Нетиповой объект</vt:lpstr>
      <vt:lpstr>Пересмотр</vt:lpstr>
      <vt:lpstr>Частые ошибки</vt:lpstr>
      <vt:lpstr>Общий порядок</vt:lpstr>
      <vt:lpstr>Вопросы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Экран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3. Категорирование:  доказательное решение и пересмотр</dc:title>
  <dc:creator/>
  <cp:keywords/>
  <cp:lastModifiedBy>RAA</cp:lastModifiedBy>
  <cp:revision>4</cp:revision>
  <dcterms:created xsi:type="dcterms:W3CDTF">2026-10-06T13:00:36Z</dcterms:created>
  <dcterms:modified xsi:type="dcterms:W3CDTF">2026-10-20T14:35:35Z</dcterms:modified>
</cp:coreProperties>
</file>